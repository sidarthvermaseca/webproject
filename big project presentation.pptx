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48"/>
  </p:notesMasterIdLst>
  <p:sldIdLst>
    <p:sldId id="280" r:id="rId2"/>
    <p:sldId id="29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79" r:id="rId13"/>
    <p:sldId id="275" r:id="rId14"/>
    <p:sldId id="257" r:id="rId15"/>
    <p:sldId id="276" r:id="rId16"/>
    <p:sldId id="277" r:id="rId17"/>
    <p:sldId id="278" r:id="rId18"/>
    <p:sldId id="271" r:id="rId19"/>
    <p:sldId id="266" r:id="rId20"/>
    <p:sldId id="267" r:id="rId21"/>
    <p:sldId id="265" r:id="rId22"/>
    <p:sldId id="268" r:id="rId23"/>
    <p:sldId id="269" r:id="rId24"/>
    <p:sldId id="273" r:id="rId25"/>
    <p:sldId id="274" r:id="rId26"/>
    <p:sldId id="270" r:id="rId27"/>
    <p:sldId id="30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272" r:id="rId38"/>
    <p:sldId id="256" r:id="rId39"/>
    <p:sldId id="258" r:id="rId40"/>
    <p:sldId id="259" r:id="rId41"/>
    <p:sldId id="260" r:id="rId42"/>
    <p:sldId id="264" r:id="rId43"/>
    <p:sldId id="261" r:id="rId44"/>
    <p:sldId id="262" r:id="rId45"/>
    <p:sldId id="263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498" autoAdjust="0"/>
    <p:restoredTop sz="94660"/>
  </p:normalViewPr>
  <p:slideViewPr>
    <p:cSldViewPr snapToGrid="0">
      <p:cViewPr varScale="1">
        <p:scale>
          <a:sx n="87" d="100"/>
          <a:sy n="87" d="100"/>
        </p:scale>
        <p:origin x="6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4" Type="http://schemas.openxmlformats.org/officeDocument/2006/relationships/image" Target="../media/image6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4" Type="http://schemas.openxmlformats.org/officeDocument/2006/relationships/image" Target="../media/image6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4157E3-8F0C-4B22-BF2D-B84412D7C77C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907EC14-E6CC-4D97-BE18-026E7DA75BF4}">
      <dgm:prSet/>
      <dgm:spPr/>
      <dgm:t>
        <a:bodyPr/>
        <a:lstStyle/>
        <a:p>
          <a:r>
            <a:rPr lang="en-US"/>
            <a:t>HTML Structure has three structures:</a:t>
          </a:r>
        </a:p>
      </dgm:t>
    </dgm:pt>
    <dgm:pt modelId="{8A237130-49D1-418B-A41D-20AC7C7C47B3}" type="parTrans" cxnId="{9F85C916-DCEA-4582-9501-B5F30C0869D6}">
      <dgm:prSet/>
      <dgm:spPr/>
      <dgm:t>
        <a:bodyPr/>
        <a:lstStyle/>
        <a:p>
          <a:endParaRPr lang="en-US"/>
        </a:p>
      </dgm:t>
    </dgm:pt>
    <dgm:pt modelId="{544233A7-4B24-4663-B4BC-6638D9FA76AD}" type="sibTrans" cxnId="{9F85C916-DCEA-4582-9501-B5F30C0869D6}">
      <dgm:prSet/>
      <dgm:spPr/>
      <dgm:t>
        <a:bodyPr/>
        <a:lstStyle/>
        <a:p>
          <a:endParaRPr lang="en-US"/>
        </a:p>
      </dgm:t>
    </dgm:pt>
    <dgm:pt modelId="{7907A0F8-E224-4B50-BCD5-BC8B782AE9BE}">
      <dgm:prSet/>
      <dgm:spPr/>
      <dgm:t>
        <a:bodyPr/>
        <a:lstStyle/>
        <a:p>
          <a:r>
            <a:rPr lang="en-CA" b="1"/>
            <a:t>Head, Body and Footer</a:t>
          </a:r>
          <a:endParaRPr lang="en-US"/>
        </a:p>
      </dgm:t>
    </dgm:pt>
    <dgm:pt modelId="{F64DB52C-FD63-43D9-AB9C-46E6E4FEFEC4}" type="parTrans" cxnId="{1DD312B9-A2B0-4F4D-8B00-177175981111}">
      <dgm:prSet/>
      <dgm:spPr/>
      <dgm:t>
        <a:bodyPr/>
        <a:lstStyle/>
        <a:p>
          <a:endParaRPr lang="en-US"/>
        </a:p>
      </dgm:t>
    </dgm:pt>
    <dgm:pt modelId="{638D932A-25C7-4082-8848-9FB07C58E56C}" type="sibTrans" cxnId="{1DD312B9-A2B0-4F4D-8B00-177175981111}">
      <dgm:prSet/>
      <dgm:spPr/>
      <dgm:t>
        <a:bodyPr/>
        <a:lstStyle/>
        <a:p>
          <a:endParaRPr lang="en-US"/>
        </a:p>
      </dgm:t>
    </dgm:pt>
    <dgm:pt modelId="{5199EFC3-3863-41E7-98B7-D8D035AD2736}">
      <dgm:prSet/>
      <dgm:spPr/>
      <dgm:t>
        <a:bodyPr/>
        <a:lstStyle/>
        <a:p>
          <a:r>
            <a:rPr lang="en-CA" dirty="0"/>
            <a:t>Head Section has three main Functions:</a:t>
          </a:r>
          <a:endParaRPr lang="en-US" dirty="0"/>
        </a:p>
      </dgm:t>
    </dgm:pt>
    <dgm:pt modelId="{029C877A-315A-4560-A29A-279C9908EB3D}" type="parTrans" cxnId="{4C4483EB-DBF1-48ED-9CAD-ADD42C6E1842}">
      <dgm:prSet/>
      <dgm:spPr/>
      <dgm:t>
        <a:bodyPr/>
        <a:lstStyle/>
        <a:p>
          <a:endParaRPr lang="en-US"/>
        </a:p>
      </dgm:t>
    </dgm:pt>
    <dgm:pt modelId="{E2DA5E49-2872-48C5-AB44-F7F546FE5FFB}" type="sibTrans" cxnId="{4C4483EB-DBF1-48ED-9CAD-ADD42C6E1842}">
      <dgm:prSet/>
      <dgm:spPr/>
      <dgm:t>
        <a:bodyPr/>
        <a:lstStyle/>
        <a:p>
          <a:endParaRPr lang="en-US"/>
        </a:p>
      </dgm:t>
    </dgm:pt>
    <dgm:pt modelId="{95B70ECE-20B8-42F4-A8DD-2BE3B38C4ECF}">
      <dgm:prSet/>
      <dgm:spPr/>
      <dgm:t>
        <a:bodyPr/>
        <a:lstStyle/>
        <a:p>
          <a:r>
            <a:rPr lang="en-CA" dirty="0"/>
            <a:t>Linking Stylesheets, Fonts and Icons</a:t>
          </a:r>
          <a:endParaRPr lang="en-US" dirty="0"/>
        </a:p>
      </dgm:t>
    </dgm:pt>
    <dgm:pt modelId="{435143C4-6FFA-4962-86D7-5DF663085BE2}" type="parTrans" cxnId="{FE65CC8B-3ED9-43E9-91DD-A0EA408783F3}">
      <dgm:prSet/>
      <dgm:spPr/>
      <dgm:t>
        <a:bodyPr/>
        <a:lstStyle/>
        <a:p>
          <a:endParaRPr lang="en-US"/>
        </a:p>
      </dgm:t>
    </dgm:pt>
    <dgm:pt modelId="{C39A3023-478E-4ADA-BD7D-8801AC687DC5}" type="sibTrans" cxnId="{FE65CC8B-3ED9-43E9-91DD-A0EA408783F3}">
      <dgm:prSet/>
      <dgm:spPr/>
      <dgm:t>
        <a:bodyPr/>
        <a:lstStyle/>
        <a:p>
          <a:endParaRPr lang="en-US"/>
        </a:p>
      </dgm:t>
    </dgm:pt>
    <dgm:pt modelId="{6660A8F1-D754-4FBB-8847-EB3F3BC5E12B}">
      <dgm:prSet/>
      <dgm:spPr/>
      <dgm:t>
        <a:bodyPr/>
        <a:lstStyle/>
        <a:p>
          <a:r>
            <a:rPr lang="en-CA" b="1"/>
            <a:t>Google Fonts used: Lexend Deca</a:t>
          </a:r>
          <a:endParaRPr lang="en-US"/>
        </a:p>
      </dgm:t>
    </dgm:pt>
    <dgm:pt modelId="{57A4CE2F-F371-4B82-B5CA-1ABB11FF4F0C}" type="parTrans" cxnId="{4CEEE6A8-20C3-4682-A540-019C6E31CD0F}">
      <dgm:prSet/>
      <dgm:spPr/>
      <dgm:t>
        <a:bodyPr/>
        <a:lstStyle/>
        <a:p>
          <a:endParaRPr lang="en-US"/>
        </a:p>
      </dgm:t>
    </dgm:pt>
    <dgm:pt modelId="{20159848-E9CF-48C1-8511-E0AFEE5D45B1}" type="sibTrans" cxnId="{4CEEE6A8-20C3-4682-A540-019C6E31CD0F}">
      <dgm:prSet/>
      <dgm:spPr/>
      <dgm:t>
        <a:bodyPr/>
        <a:lstStyle/>
        <a:p>
          <a:endParaRPr lang="en-US"/>
        </a:p>
      </dgm:t>
    </dgm:pt>
    <dgm:pt modelId="{3E01FB75-3206-4D17-87F0-58C282CEEA82}" type="pres">
      <dgm:prSet presAssocID="{0B4157E3-8F0C-4B22-BF2D-B84412D7C77C}" presName="linear" presStyleCnt="0">
        <dgm:presLayoutVars>
          <dgm:animLvl val="lvl"/>
          <dgm:resizeHandles val="exact"/>
        </dgm:presLayoutVars>
      </dgm:prSet>
      <dgm:spPr/>
    </dgm:pt>
    <dgm:pt modelId="{F51C647B-461E-4B56-94C9-118F905A8CD8}" type="pres">
      <dgm:prSet presAssocID="{4907EC14-E6CC-4D97-BE18-026E7DA75BF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5D0368D-21CC-435E-9489-0E820CC9A0A1}" type="pres">
      <dgm:prSet presAssocID="{544233A7-4B24-4663-B4BC-6638D9FA76AD}" presName="spacer" presStyleCnt="0"/>
      <dgm:spPr/>
    </dgm:pt>
    <dgm:pt modelId="{2FAFCC83-3B67-4AE7-8703-94DCA742188A}" type="pres">
      <dgm:prSet presAssocID="{7907A0F8-E224-4B50-BCD5-BC8B782AE9B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99E3929-8C7B-46AB-9E30-3B0C5ACB4433}" type="pres">
      <dgm:prSet presAssocID="{638D932A-25C7-4082-8848-9FB07C58E56C}" presName="spacer" presStyleCnt="0"/>
      <dgm:spPr/>
    </dgm:pt>
    <dgm:pt modelId="{EA8CAB4C-4B86-4F00-AD2E-1434C63D7C34}" type="pres">
      <dgm:prSet presAssocID="{5199EFC3-3863-41E7-98B7-D8D035AD273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8096400-1A2A-4498-91F1-2E097C2956BA}" type="pres">
      <dgm:prSet presAssocID="{E2DA5E49-2872-48C5-AB44-F7F546FE5FFB}" presName="spacer" presStyleCnt="0"/>
      <dgm:spPr/>
    </dgm:pt>
    <dgm:pt modelId="{527B17EB-B728-4C7D-B68B-AB93C1262BBE}" type="pres">
      <dgm:prSet presAssocID="{95B70ECE-20B8-42F4-A8DD-2BE3B38C4EC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4071CD9-F055-4AC4-A4D8-C42634B8FD56}" type="pres">
      <dgm:prSet presAssocID="{C39A3023-478E-4ADA-BD7D-8801AC687DC5}" presName="spacer" presStyleCnt="0"/>
      <dgm:spPr/>
    </dgm:pt>
    <dgm:pt modelId="{59CBEF19-226C-4361-AC05-14721CC7DA5E}" type="pres">
      <dgm:prSet presAssocID="{6660A8F1-D754-4FBB-8847-EB3F3BC5E12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FA20205-C2B5-4952-874F-757BD78704DD}" type="presOf" srcId="{6660A8F1-D754-4FBB-8847-EB3F3BC5E12B}" destId="{59CBEF19-226C-4361-AC05-14721CC7DA5E}" srcOrd="0" destOrd="0" presId="urn:microsoft.com/office/officeart/2005/8/layout/vList2"/>
    <dgm:cxn modelId="{94C93A12-E54B-4C0C-9330-5749BB15D565}" type="presOf" srcId="{4907EC14-E6CC-4D97-BE18-026E7DA75BF4}" destId="{F51C647B-461E-4B56-94C9-118F905A8CD8}" srcOrd="0" destOrd="0" presId="urn:microsoft.com/office/officeart/2005/8/layout/vList2"/>
    <dgm:cxn modelId="{9F85C916-DCEA-4582-9501-B5F30C0869D6}" srcId="{0B4157E3-8F0C-4B22-BF2D-B84412D7C77C}" destId="{4907EC14-E6CC-4D97-BE18-026E7DA75BF4}" srcOrd="0" destOrd="0" parTransId="{8A237130-49D1-418B-A41D-20AC7C7C47B3}" sibTransId="{544233A7-4B24-4663-B4BC-6638D9FA76AD}"/>
    <dgm:cxn modelId="{0EF3631A-AEAD-4B52-B3A1-2C534ACA9B49}" type="presOf" srcId="{5199EFC3-3863-41E7-98B7-D8D035AD2736}" destId="{EA8CAB4C-4B86-4F00-AD2E-1434C63D7C34}" srcOrd="0" destOrd="0" presId="urn:microsoft.com/office/officeart/2005/8/layout/vList2"/>
    <dgm:cxn modelId="{EB527826-A6B1-4C8E-BD72-B73CEBF72A1E}" type="presOf" srcId="{7907A0F8-E224-4B50-BCD5-BC8B782AE9BE}" destId="{2FAFCC83-3B67-4AE7-8703-94DCA742188A}" srcOrd="0" destOrd="0" presId="urn:microsoft.com/office/officeart/2005/8/layout/vList2"/>
    <dgm:cxn modelId="{7E1ED87F-DB9F-49B6-BADA-CC6414AA7745}" type="presOf" srcId="{0B4157E3-8F0C-4B22-BF2D-B84412D7C77C}" destId="{3E01FB75-3206-4D17-87F0-58C282CEEA82}" srcOrd="0" destOrd="0" presId="urn:microsoft.com/office/officeart/2005/8/layout/vList2"/>
    <dgm:cxn modelId="{FE65CC8B-3ED9-43E9-91DD-A0EA408783F3}" srcId="{0B4157E3-8F0C-4B22-BF2D-B84412D7C77C}" destId="{95B70ECE-20B8-42F4-A8DD-2BE3B38C4ECF}" srcOrd="3" destOrd="0" parTransId="{435143C4-6FFA-4962-86D7-5DF663085BE2}" sibTransId="{C39A3023-478E-4ADA-BD7D-8801AC687DC5}"/>
    <dgm:cxn modelId="{4CEEE6A8-20C3-4682-A540-019C6E31CD0F}" srcId="{0B4157E3-8F0C-4B22-BF2D-B84412D7C77C}" destId="{6660A8F1-D754-4FBB-8847-EB3F3BC5E12B}" srcOrd="4" destOrd="0" parTransId="{57A4CE2F-F371-4B82-B5CA-1ABB11FF4F0C}" sibTransId="{20159848-E9CF-48C1-8511-E0AFEE5D45B1}"/>
    <dgm:cxn modelId="{A1E7FAAA-EA9A-4852-8F3C-8B27AE44DD2D}" type="presOf" srcId="{95B70ECE-20B8-42F4-A8DD-2BE3B38C4ECF}" destId="{527B17EB-B728-4C7D-B68B-AB93C1262BBE}" srcOrd="0" destOrd="0" presId="urn:microsoft.com/office/officeart/2005/8/layout/vList2"/>
    <dgm:cxn modelId="{1DD312B9-A2B0-4F4D-8B00-177175981111}" srcId="{0B4157E3-8F0C-4B22-BF2D-B84412D7C77C}" destId="{7907A0F8-E224-4B50-BCD5-BC8B782AE9BE}" srcOrd="1" destOrd="0" parTransId="{F64DB52C-FD63-43D9-AB9C-46E6E4FEFEC4}" sibTransId="{638D932A-25C7-4082-8848-9FB07C58E56C}"/>
    <dgm:cxn modelId="{4C4483EB-DBF1-48ED-9CAD-ADD42C6E1842}" srcId="{0B4157E3-8F0C-4B22-BF2D-B84412D7C77C}" destId="{5199EFC3-3863-41E7-98B7-D8D035AD2736}" srcOrd="2" destOrd="0" parTransId="{029C877A-315A-4560-A29A-279C9908EB3D}" sibTransId="{E2DA5E49-2872-48C5-AB44-F7F546FE5FFB}"/>
    <dgm:cxn modelId="{68477437-09D7-406E-936D-D63E4B0C406B}" type="presParOf" srcId="{3E01FB75-3206-4D17-87F0-58C282CEEA82}" destId="{F51C647B-461E-4B56-94C9-118F905A8CD8}" srcOrd="0" destOrd="0" presId="urn:microsoft.com/office/officeart/2005/8/layout/vList2"/>
    <dgm:cxn modelId="{A4E63137-1BCD-4BE0-B3E0-6C30C9B6D308}" type="presParOf" srcId="{3E01FB75-3206-4D17-87F0-58C282CEEA82}" destId="{F5D0368D-21CC-435E-9489-0E820CC9A0A1}" srcOrd="1" destOrd="0" presId="urn:microsoft.com/office/officeart/2005/8/layout/vList2"/>
    <dgm:cxn modelId="{41D928AF-87EE-4FF3-B3AF-8DFBA5A74643}" type="presParOf" srcId="{3E01FB75-3206-4D17-87F0-58C282CEEA82}" destId="{2FAFCC83-3B67-4AE7-8703-94DCA742188A}" srcOrd="2" destOrd="0" presId="urn:microsoft.com/office/officeart/2005/8/layout/vList2"/>
    <dgm:cxn modelId="{B12472C9-EBB7-4FA6-8789-5B5C9D1140F0}" type="presParOf" srcId="{3E01FB75-3206-4D17-87F0-58C282CEEA82}" destId="{799E3929-8C7B-46AB-9E30-3B0C5ACB4433}" srcOrd="3" destOrd="0" presId="urn:microsoft.com/office/officeart/2005/8/layout/vList2"/>
    <dgm:cxn modelId="{DFA70F3C-EDB3-430F-944E-A73CB9D86D51}" type="presParOf" srcId="{3E01FB75-3206-4D17-87F0-58C282CEEA82}" destId="{EA8CAB4C-4B86-4F00-AD2E-1434C63D7C34}" srcOrd="4" destOrd="0" presId="urn:microsoft.com/office/officeart/2005/8/layout/vList2"/>
    <dgm:cxn modelId="{85DDF04A-7A25-488D-895F-95E766A773C4}" type="presParOf" srcId="{3E01FB75-3206-4D17-87F0-58C282CEEA82}" destId="{78096400-1A2A-4498-91F1-2E097C2956BA}" srcOrd="5" destOrd="0" presId="urn:microsoft.com/office/officeart/2005/8/layout/vList2"/>
    <dgm:cxn modelId="{6CA1C338-7566-46D7-99C3-D9AB230E4F36}" type="presParOf" srcId="{3E01FB75-3206-4D17-87F0-58C282CEEA82}" destId="{527B17EB-B728-4C7D-B68B-AB93C1262BBE}" srcOrd="6" destOrd="0" presId="urn:microsoft.com/office/officeart/2005/8/layout/vList2"/>
    <dgm:cxn modelId="{2C984CF5-17AC-4B47-AA38-9B46A78AA258}" type="presParOf" srcId="{3E01FB75-3206-4D17-87F0-58C282CEEA82}" destId="{D4071CD9-F055-4AC4-A4D8-C42634B8FD56}" srcOrd="7" destOrd="0" presId="urn:microsoft.com/office/officeart/2005/8/layout/vList2"/>
    <dgm:cxn modelId="{DAD2F23E-9DF3-423A-9CAD-67AC07E83461}" type="presParOf" srcId="{3E01FB75-3206-4D17-87F0-58C282CEEA82}" destId="{59CBEF19-226C-4361-AC05-14721CC7DA5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4E546D-98B3-42AA-9F15-C06D5D440AC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D4B2ECAB-155A-4B9C-A42F-FA0A33FA11B3}">
      <dgm:prSet/>
      <dgm:spPr/>
      <dgm:t>
        <a:bodyPr/>
        <a:lstStyle/>
        <a:p>
          <a:r>
            <a:rPr lang="en-US" b="1" dirty="0"/>
            <a:t>Left Panel</a:t>
          </a:r>
          <a:r>
            <a:rPr lang="en-US" dirty="0"/>
            <a:t>: </a:t>
          </a:r>
          <a:r>
            <a:rPr lang="en-US" b="1" dirty="0"/>
            <a:t>Card Info and Benefits</a:t>
          </a:r>
          <a:r>
            <a:rPr lang="en-US" dirty="0"/>
            <a:t>: Section where information about the credit card and its benefits is displayed.</a:t>
          </a:r>
        </a:p>
      </dgm:t>
    </dgm:pt>
    <dgm:pt modelId="{6F96AC4D-6C9A-4D6C-9BF7-411CC74EEC76}" type="parTrans" cxnId="{A731A580-2F77-4F01-A3A3-E4FF4B110A1C}">
      <dgm:prSet/>
      <dgm:spPr/>
      <dgm:t>
        <a:bodyPr/>
        <a:lstStyle/>
        <a:p>
          <a:endParaRPr lang="en-US"/>
        </a:p>
      </dgm:t>
    </dgm:pt>
    <dgm:pt modelId="{4EE24BB8-B4B0-47A8-BA25-219297CF6946}" type="sibTrans" cxnId="{A731A580-2F77-4F01-A3A3-E4FF4B110A1C}">
      <dgm:prSet/>
      <dgm:spPr/>
      <dgm:t>
        <a:bodyPr/>
        <a:lstStyle/>
        <a:p>
          <a:endParaRPr lang="en-US"/>
        </a:p>
      </dgm:t>
    </dgm:pt>
    <dgm:pt modelId="{56EEBAA0-E152-40E5-BA50-D9A47CC25F2A}">
      <dgm:prSet/>
      <dgm:spPr/>
      <dgm:t>
        <a:bodyPr/>
        <a:lstStyle/>
        <a:p>
          <a:r>
            <a:rPr lang="en-US" b="1" dirty="0"/>
            <a:t>Navigation Icons</a:t>
          </a:r>
          <a:r>
            <a:rPr lang="en-US" dirty="0"/>
            <a:t>: Explain the icons that link to other pages like home and back.</a:t>
          </a:r>
        </a:p>
      </dgm:t>
    </dgm:pt>
    <dgm:pt modelId="{34117686-E9EB-4A85-AA8F-71B3EBA77D97}" type="parTrans" cxnId="{2499A1BA-9C39-4C9A-8E42-84158282EFEE}">
      <dgm:prSet/>
      <dgm:spPr/>
      <dgm:t>
        <a:bodyPr/>
        <a:lstStyle/>
        <a:p>
          <a:endParaRPr lang="en-US"/>
        </a:p>
      </dgm:t>
    </dgm:pt>
    <dgm:pt modelId="{171006BC-228D-4DB2-BADA-3F346C351C19}" type="sibTrans" cxnId="{2499A1BA-9C39-4C9A-8E42-84158282EFEE}">
      <dgm:prSet/>
      <dgm:spPr/>
      <dgm:t>
        <a:bodyPr/>
        <a:lstStyle/>
        <a:p>
          <a:endParaRPr lang="en-US"/>
        </a:p>
      </dgm:t>
    </dgm:pt>
    <dgm:pt modelId="{CA4D2E74-1DFF-4201-B9B0-27A19B1A9D61}" type="pres">
      <dgm:prSet presAssocID="{0E4E546D-98B3-42AA-9F15-C06D5D440AC5}" presName="root" presStyleCnt="0">
        <dgm:presLayoutVars>
          <dgm:dir/>
          <dgm:resizeHandles val="exact"/>
        </dgm:presLayoutVars>
      </dgm:prSet>
      <dgm:spPr/>
    </dgm:pt>
    <dgm:pt modelId="{ABE079CC-5D56-491E-AC09-C41812148DEA}" type="pres">
      <dgm:prSet presAssocID="{D4B2ECAB-155A-4B9C-A42F-FA0A33FA11B3}" presName="compNode" presStyleCnt="0"/>
      <dgm:spPr/>
    </dgm:pt>
    <dgm:pt modelId="{CAC5948D-795F-4F20-959E-D3E4C0B86516}" type="pres">
      <dgm:prSet presAssocID="{D4B2ECAB-155A-4B9C-A42F-FA0A33FA11B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5B25926F-A104-4F30-BA0E-8EBFCCE7DED4}" type="pres">
      <dgm:prSet presAssocID="{D4B2ECAB-155A-4B9C-A42F-FA0A33FA11B3}" presName="spaceRect" presStyleCnt="0"/>
      <dgm:spPr/>
    </dgm:pt>
    <dgm:pt modelId="{D52BB77D-D9AD-4510-ACE3-0B8787D81872}" type="pres">
      <dgm:prSet presAssocID="{D4B2ECAB-155A-4B9C-A42F-FA0A33FA11B3}" presName="textRect" presStyleLbl="revTx" presStyleIdx="0" presStyleCnt="2" custScaleX="156872">
        <dgm:presLayoutVars>
          <dgm:chMax val="1"/>
          <dgm:chPref val="1"/>
        </dgm:presLayoutVars>
      </dgm:prSet>
      <dgm:spPr/>
    </dgm:pt>
    <dgm:pt modelId="{3D5A233A-9978-4087-A822-8E71890A780C}" type="pres">
      <dgm:prSet presAssocID="{4EE24BB8-B4B0-47A8-BA25-219297CF6946}" presName="sibTrans" presStyleCnt="0"/>
      <dgm:spPr/>
    </dgm:pt>
    <dgm:pt modelId="{A97A3C72-C520-494F-B84B-A1340F28F9C4}" type="pres">
      <dgm:prSet presAssocID="{56EEBAA0-E152-40E5-BA50-D9A47CC25F2A}" presName="compNode" presStyleCnt="0"/>
      <dgm:spPr/>
    </dgm:pt>
    <dgm:pt modelId="{544836CA-0419-495C-80C6-0E8F12F211C6}" type="pres">
      <dgm:prSet presAssocID="{56EEBAA0-E152-40E5-BA50-D9A47CC25F2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168B54DC-F468-44C4-84E8-547A88ABA047}" type="pres">
      <dgm:prSet presAssocID="{56EEBAA0-E152-40E5-BA50-D9A47CC25F2A}" presName="spaceRect" presStyleCnt="0"/>
      <dgm:spPr/>
    </dgm:pt>
    <dgm:pt modelId="{A3EBCFB6-C865-4834-9172-1267AC88945F}" type="pres">
      <dgm:prSet presAssocID="{56EEBAA0-E152-40E5-BA50-D9A47CC25F2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DAC3D33-1942-4B31-87B4-51B185B15B20}" type="presOf" srcId="{56EEBAA0-E152-40E5-BA50-D9A47CC25F2A}" destId="{A3EBCFB6-C865-4834-9172-1267AC88945F}" srcOrd="0" destOrd="0" presId="urn:microsoft.com/office/officeart/2018/2/layout/IconLabelList"/>
    <dgm:cxn modelId="{D031284A-BDF6-4D31-8246-FE34E76D6098}" type="presOf" srcId="{D4B2ECAB-155A-4B9C-A42F-FA0A33FA11B3}" destId="{D52BB77D-D9AD-4510-ACE3-0B8787D81872}" srcOrd="0" destOrd="0" presId="urn:microsoft.com/office/officeart/2018/2/layout/IconLabelList"/>
    <dgm:cxn modelId="{A731A580-2F77-4F01-A3A3-E4FF4B110A1C}" srcId="{0E4E546D-98B3-42AA-9F15-C06D5D440AC5}" destId="{D4B2ECAB-155A-4B9C-A42F-FA0A33FA11B3}" srcOrd="0" destOrd="0" parTransId="{6F96AC4D-6C9A-4D6C-9BF7-411CC74EEC76}" sibTransId="{4EE24BB8-B4B0-47A8-BA25-219297CF6946}"/>
    <dgm:cxn modelId="{60003086-0CBA-4E37-94CA-4E34B5621585}" type="presOf" srcId="{0E4E546D-98B3-42AA-9F15-C06D5D440AC5}" destId="{CA4D2E74-1DFF-4201-B9B0-27A19B1A9D61}" srcOrd="0" destOrd="0" presId="urn:microsoft.com/office/officeart/2018/2/layout/IconLabelList"/>
    <dgm:cxn modelId="{2499A1BA-9C39-4C9A-8E42-84158282EFEE}" srcId="{0E4E546D-98B3-42AA-9F15-C06D5D440AC5}" destId="{56EEBAA0-E152-40E5-BA50-D9A47CC25F2A}" srcOrd="1" destOrd="0" parTransId="{34117686-E9EB-4A85-AA8F-71B3EBA77D97}" sibTransId="{171006BC-228D-4DB2-BADA-3F346C351C19}"/>
    <dgm:cxn modelId="{1B5B6158-E6C2-437B-913F-E8CD2EBFC5D2}" type="presParOf" srcId="{CA4D2E74-1DFF-4201-B9B0-27A19B1A9D61}" destId="{ABE079CC-5D56-491E-AC09-C41812148DEA}" srcOrd="0" destOrd="0" presId="urn:microsoft.com/office/officeart/2018/2/layout/IconLabelList"/>
    <dgm:cxn modelId="{C388D605-FC18-44BE-BCA0-CE58884CEED3}" type="presParOf" srcId="{ABE079CC-5D56-491E-AC09-C41812148DEA}" destId="{CAC5948D-795F-4F20-959E-D3E4C0B86516}" srcOrd="0" destOrd="0" presId="urn:microsoft.com/office/officeart/2018/2/layout/IconLabelList"/>
    <dgm:cxn modelId="{975753D1-F222-4B63-9776-26F36642C50F}" type="presParOf" srcId="{ABE079CC-5D56-491E-AC09-C41812148DEA}" destId="{5B25926F-A104-4F30-BA0E-8EBFCCE7DED4}" srcOrd="1" destOrd="0" presId="urn:microsoft.com/office/officeart/2018/2/layout/IconLabelList"/>
    <dgm:cxn modelId="{E5BD73FD-CCE5-4EE8-BD43-5BEED27640AA}" type="presParOf" srcId="{ABE079CC-5D56-491E-AC09-C41812148DEA}" destId="{D52BB77D-D9AD-4510-ACE3-0B8787D81872}" srcOrd="2" destOrd="0" presId="urn:microsoft.com/office/officeart/2018/2/layout/IconLabelList"/>
    <dgm:cxn modelId="{540A3D99-D9E1-4487-846B-A96A10B2FDD1}" type="presParOf" srcId="{CA4D2E74-1DFF-4201-B9B0-27A19B1A9D61}" destId="{3D5A233A-9978-4087-A822-8E71890A780C}" srcOrd="1" destOrd="0" presId="urn:microsoft.com/office/officeart/2018/2/layout/IconLabelList"/>
    <dgm:cxn modelId="{B0C745B3-2F8A-44BA-AA48-E1C437A72FEF}" type="presParOf" srcId="{CA4D2E74-1DFF-4201-B9B0-27A19B1A9D61}" destId="{A97A3C72-C520-494F-B84B-A1340F28F9C4}" srcOrd="2" destOrd="0" presId="urn:microsoft.com/office/officeart/2018/2/layout/IconLabelList"/>
    <dgm:cxn modelId="{42278015-2EC6-4299-BB5B-18379FE17E3A}" type="presParOf" srcId="{A97A3C72-C520-494F-B84B-A1340F28F9C4}" destId="{544836CA-0419-495C-80C6-0E8F12F211C6}" srcOrd="0" destOrd="0" presId="urn:microsoft.com/office/officeart/2018/2/layout/IconLabelList"/>
    <dgm:cxn modelId="{3E030576-5608-4023-8463-1FA7A738C8C5}" type="presParOf" srcId="{A97A3C72-C520-494F-B84B-A1340F28F9C4}" destId="{168B54DC-F468-44C4-84E8-547A88ABA047}" srcOrd="1" destOrd="0" presId="urn:microsoft.com/office/officeart/2018/2/layout/IconLabelList"/>
    <dgm:cxn modelId="{F2FDDE3B-C66A-44C2-88E9-0FA7D2C31850}" type="presParOf" srcId="{A97A3C72-C520-494F-B84B-A1340F28F9C4}" destId="{A3EBCFB6-C865-4834-9172-1267AC88945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4AB0F2-D534-4218-9B9B-A298BC1D51B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5CBC38-E904-45C3-9AC5-548EA6C1D170}">
      <dgm:prSet/>
      <dgm:spPr/>
      <dgm:t>
        <a:bodyPr/>
        <a:lstStyle/>
        <a:p>
          <a:r>
            <a:rPr lang="en-US"/>
            <a:t>Use of Bootstrap</a:t>
          </a:r>
        </a:p>
      </dgm:t>
    </dgm:pt>
    <dgm:pt modelId="{A376A17E-A227-40E6-AC63-176BA330BFF1}" type="parTrans" cxnId="{AFFB10DD-A92A-4CAD-A7C2-21F69DD7D3FA}">
      <dgm:prSet/>
      <dgm:spPr/>
      <dgm:t>
        <a:bodyPr/>
        <a:lstStyle/>
        <a:p>
          <a:endParaRPr lang="en-US"/>
        </a:p>
      </dgm:t>
    </dgm:pt>
    <dgm:pt modelId="{E75CE826-4782-4876-87E2-26BAC234FC39}" type="sibTrans" cxnId="{AFFB10DD-A92A-4CAD-A7C2-21F69DD7D3FA}">
      <dgm:prSet/>
      <dgm:spPr/>
      <dgm:t>
        <a:bodyPr/>
        <a:lstStyle/>
        <a:p>
          <a:endParaRPr lang="en-US"/>
        </a:p>
      </dgm:t>
    </dgm:pt>
    <dgm:pt modelId="{AFB49810-A05B-4B2A-B195-B92ACFCF6FB2}">
      <dgm:prSet/>
      <dgm:spPr/>
      <dgm:t>
        <a:bodyPr/>
        <a:lstStyle/>
        <a:p>
          <a:r>
            <a:rPr lang="en-US" dirty="0"/>
            <a:t>Element uses NAV Bar with drop-down</a:t>
          </a:r>
        </a:p>
      </dgm:t>
    </dgm:pt>
    <dgm:pt modelId="{CE641CE9-893E-4499-8EC8-18E607F0F5A9}" type="parTrans" cxnId="{EAD3993B-2B6E-4C35-8B80-827F68B440B0}">
      <dgm:prSet/>
      <dgm:spPr/>
      <dgm:t>
        <a:bodyPr/>
        <a:lstStyle/>
        <a:p>
          <a:endParaRPr lang="en-US"/>
        </a:p>
      </dgm:t>
    </dgm:pt>
    <dgm:pt modelId="{995DB7C8-C45C-417E-A556-6E14B73C68F7}" type="sibTrans" cxnId="{EAD3993B-2B6E-4C35-8B80-827F68B440B0}">
      <dgm:prSet/>
      <dgm:spPr/>
      <dgm:t>
        <a:bodyPr/>
        <a:lstStyle/>
        <a:p>
          <a:endParaRPr lang="en-US"/>
        </a:p>
      </dgm:t>
    </dgm:pt>
    <dgm:pt modelId="{E0CD5E76-05B9-4E89-8C11-F747DA772B8D}">
      <dgm:prSet/>
      <dgm:spPr/>
      <dgm:t>
        <a:bodyPr/>
        <a:lstStyle/>
        <a:p>
          <a:r>
            <a:rPr lang="en-CA"/>
            <a:t>Added text box with statements</a:t>
          </a:r>
          <a:endParaRPr lang="en-US"/>
        </a:p>
      </dgm:t>
    </dgm:pt>
    <dgm:pt modelId="{14136B9F-BCFA-4E56-AF82-3ADF89E20959}" type="parTrans" cxnId="{D31BAF3E-AC18-4F94-8562-44950FF5E9FD}">
      <dgm:prSet/>
      <dgm:spPr/>
      <dgm:t>
        <a:bodyPr/>
        <a:lstStyle/>
        <a:p>
          <a:endParaRPr lang="en-US"/>
        </a:p>
      </dgm:t>
    </dgm:pt>
    <dgm:pt modelId="{96A13AEA-296A-460E-B6C6-22A716973644}" type="sibTrans" cxnId="{D31BAF3E-AC18-4F94-8562-44950FF5E9FD}">
      <dgm:prSet/>
      <dgm:spPr/>
      <dgm:t>
        <a:bodyPr/>
        <a:lstStyle/>
        <a:p>
          <a:endParaRPr lang="en-US"/>
        </a:p>
      </dgm:t>
    </dgm:pt>
    <dgm:pt modelId="{6CF046EC-3737-4DAC-9FF1-615550CB6B15}">
      <dgm:prSet/>
      <dgm:spPr/>
      <dgm:t>
        <a:bodyPr/>
        <a:lstStyle/>
        <a:p>
          <a:r>
            <a:rPr lang="en-CA"/>
            <a:t>Added a form for feedback</a:t>
          </a:r>
          <a:endParaRPr lang="en-US"/>
        </a:p>
      </dgm:t>
    </dgm:pt>
    <dgm:pt modelId="{81DA664D-8928-4E56-83F9-766DF29C98E9}" type="parTrans" cxnId="{361E3A28-AEE9-45F1-BD7C-AAC14EEAD159}">
      <dgm:prSet/>
      <dgm:spPr/>
      <dgm:t>
        <a:bodyPr/>
        <a:lstStyle/>
        <a:p>
          <a:endParaRPr lang="en-US"/>
        </a:p>
      </dgm:t>
    </dgm:pt>
    <dgm:pt modelId="{65A83187-2D53-4E33-981F-960776D30A29}" type="sibTrans" cxnId="{361E3A28-AEE9-45F1-BD7C-AAC14EEAD159}">
      <dgm:prSet/>
      <dgm:spPr/>
      <dgm:t>
        <a:bodyPr/>
        <a:lstStyle/>
        <a:p>
          <a:endParaRPr lang="en-US"/>
        </a:p>
      </dgm:t>
    </dgm:pt>
    <dgm:pt modelId="{6938A906-FDB4-487F-847E-0C8DABC10F24}">
      <dgm:prSet/>
      <dgm:spPr/>
      <dgm:t>
        <a:bodyPr/>
        <a:lstStyle/>
        <a:p>
          <a:r>
            <a:rPr lang="en-CA"/>
            <a:t>Submit button that prompts a message</a:t>
          </a:r>
          <a:endParaRPr lang="en-US"/>
        </a:p>
      </dgm:t>
    </dgm:pt>
    <dgm:pt modelId="{57C2F559-97C5-4478-B22E-4C166EB3C2C5}" type="parTrans" cxnId="{105AEDCF-B92C-456C-AB45-53D794F79FD0}">
      <dgm:prSet/>
      <dgm:spPr/>
      <dgm:t>
        <a:bodyPr/>
        <a:lstStyle/>
        <a:p>
          <a:endParaRPr lang="en-US"/>
        </a:p>
      </dgm:t>
    </dgm:pt>
    <dgm:pt modelId="{1E1BE7E3-D60E-4BC5-B8C6-2AF40A323AEF}" type="sibTrans" cxnId="{105AEDCF-B92C-456C-AB45-53D794F79FD0}">
      <dgm:prSet/>
      <dgm:spPr/>
      <dgm:t>
        <a:bodyPr/>
        <a:lstStyle/>
        <a:p>
          <a:endParaRPr lang="en-US"/>
        </a:p>
      </dgm:t>
    </dgm:pt>
    <dgm:pt modelId="{6FE3D817-ED34-4E26-8BAC-2CEAFD5D23DF}" type="pres">
      <dgm:prSet presAssocID="{A54AB0F2-D534-4218-9B9B-A298BC1D51BC}" presName="linear" presStyleCnt="0">
        <dgm:presLayoutVars>
          <dgm:animLvl val="lvl"/>
          <dgm:resizeHandles val="exact"/>
        </dgm:presLayoutVars>
      </dgm:prSet>
      <dgm:spPr/>
    </dgm:pt>
    <dgm:pt modelId="{17F8AD7E-22C2-485C-838C-1052740C40E5}" type="pres">
      <dgm:prSet presAssocID="{995CBC38-E904-45C3-9AC5-548EA6C1D17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4509F7C-0B1B-4E4F-BF95-F1458EBAAAAE}" type="pres">
      <dgm:prSet presAssocID="{E75CE826-4782-4876-87E2-26BAC234FC39}" presName="spacer" presStyleCnt="0"/>
      <dgm:spPr/>
    </dgm:pt>
    <dgm:pt modelId="{0FB251EF-FE2F-4FC5-95F4-9B40824E222C}" type="pres">
      <dgm:prSet presAssocID="{AFB49810-A05B-4B2A-B195-B92ACFCF6FB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1F9EFA3-D64E-422A-9A67-3FE09E82A32D}" type="pres">
      <dgm:prSet presAssocID="{995DB7C8-C45C-417E-A556-6E14B73C68F7}" presName="spacer" presStyleCnt="0"/>
      <dgm:spPr/>
    </dgm:pt>
    <dgm:pt modelId="{199773F8-48D9-4EEB-B725-6DA721C3A8BF}" type="pres">
      <dgm:prSet presAssocID="{E0CD5E76-05B9-4E89-8C11-F747DA772B8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D26492D-A6A0-4A8F-B5A6-3DD0FDB246D0}" type="pres">
      <dgm:prSet presAssocID="{96A13AEA-296A-460E-B6C6-22A716973644}" presName="spacer" presStyleCnt="0"/>
      <dgm:spPr/>
    </dgm:pt>
    <dgm:pt modelId="{F77A9D87-41D1-4DB0-826D-76818623A04B}" type="pres">
      <dgm:prSet presAssocID="{6CF046EC-3737-4DAC-9FF1-615550CB6B1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8A89EC0-6E69-4D2F-AAAA-168642C3BD8D}" type="pres">
      <dgm:prSet presAssocID="{65A83187-2D53-4E33-981F-960776D30A29}" presName="spacer" presStyleCnt="0"/>
      <dgm:spPr/>
    </dgm:pt>
    <dgm:pt modelId="{B45B1E30-0C6C-4271-BD2C-F0CF77548110}" type="pres">
      <dgm:prSet presAssocID="{6938A906-FDB4-487F-847E-0C8DABC10F2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AD2F80C-4804-49BC-A471-7549F95AC84F}" type="presOf" srcId="{995CBC38-E904-45C3-9AC5-548EA6C1D170}" destId="{17F8AD7E-22C2-485C-838C-1052740C40E5}" srcOrd="0" destOrd="0" presId="urn:microsoft.com/office/officeart/2005/8/layout/vList2"/>
    <dgm:cxn modelId="{361E3A28-AEE9-45F1-BD7C-AAC14EEAD159}" srcId="{A54AB0F2-D534-4218-9B9B-A298BC1D51BC}" destId="{6CF046EC-3737-4DAC-9FF1-615550CB6B15}" srcOrd="3" destOrd="0" parTransId="{81DA664D-8928-4E56-83F9-766DF29C98E9}" sibTransId="{65A83187-2D53-4E33-981F-960776D30A29}"/>
    <dgm:cxn modelId="{AF7E4139-E42A-4726-B080-9109DFC9D801}" type="presOf" srcId="{AFB49810-A05B-4B2A-B195-B92ACFCF6FB2}" destId="{0FB251EF-FE2F-4FC5-95F4-9B40824E222C}" srcOrd="0" destOrd="0" presId="urn:microsoft.com/office/officeart/2005/8/layout/vList2"/>
    <dgm:cxn modelId="{EAD3993B-2B6E-4C35-8B80-827F68B440B0}" srcId="{A54AB0F2-D534-4218-9B9B-A298BC1D51BC}" destId="{AFB49810-A05B-4B2A-B195-B92ACFCF6FB2}" srcOrd="1" destOrd="0" parTransId="{CE641CE9-893E-4499-8EC8-18E607F0F5A9}" sibTransId="{995DB7C8-C45C-417E-A556-6E14B73C68F7}"/>
    <dgm:cxn modelId="{D31BAF3E-AC18-4F94-8562-44950FF5E9FD}" srcId="{A54AB0F2-D534-4218-9B9B-A298BC1D51BC}" destId="{E0CD5E76-05B9-4E89-8C11-F747DA772B8D}" srcOrd="2" destOrd="0" parTransId="{14136B9F-BCFA-4E56-AF82-3ADF89E20959}" sibTransId="{96A13AEA-296A-460E-B6C6-22A716973644}"/>
    <dgm:cxn modelId="{BD842162-5D30-4B26-8118-20F21933A262}" type="presOf" srcId="{6938A906-FDB4-487F-847E-0C8DABC10F24}" destId="{B45B1E30-0C6C-4271-BD2C-F0CF77548110}" srcOrd="0" destOrd="0" presId="urn:microsoft.com/office/officeart/2005/8/layout/vList2"/>
    <dgm:cxn modelId="{B1BD3A4F-761C-4A03-8CF7-DFE480836BAA}" type="presOf" srcId="{A54AB0F2-D534-4218-9B9B-A298BC1D51BC}" destId="{6FE3D817-ED34-4E26-8BAC-2CEAFD5D23DF}" srcOrd="0" destOrd="0" presId="urn:microsoft.com/office/officeart/2005/8/layout/vList2"/>
    <dgm:cxn modelId="{06E4C274-46FD-4612-8520-E5B8B612C652}" type="presOf" srcId="{E0CD5E76-05B9-4E89-8C11-F747DA772B8D}" destId="{199773F8-48D9-4EEB-B725-6DA721C3A8BF}" srcOrd="0" destOrd="0" presId="urn:microsoft.com/office/officeart/2005/8/layout/vList2"/>
    <dgm:cxn modelId="{105AEDCF-B92C-456C-AB45-53D794F79FD0}" srcId="{A54AB0F2-D534-4218-9B9B-A298BC1D51BC}" destId="{6938A906-FDB4-487F-847E-0C8DABC10F24}" srcOrd="4" destOrd="0" parTransId="{57C2F559-97C5-4478-B22E-4C166EB3C2C5}" sibTransId="{1E1BE7E3-D60E-4BC5-B8C6-2AF40A323AEF}"/>
    <dgm:cxn modelId="{AFFB10DD-A92A-4CAD-A7C2-21F69DD7D3FA}" srcId="{A54AB0F2-D534-4218-9B9B-A298BC1D51BC}" destId="{995CBC38-E904-45C3-9AC5-548EA6C1D170}" srcOrd="0" destOrd="0" parTransId="{A376A17E-A227-40E6-AC63-176BA330BFF1}" sibTransId="{E75CE826-4782-4876-87E2-26BAC234FC39}"/>
    <dgm:cxn modelId="{345C53F5-DF5A-4045-B2D4-E330ED9A6BE4}" type="presOf" srcId="{6CF046EC-3737-4DAC-9FF1-615550CB6B15}" destId="{F77A9D87-41D1-4DB0-826D-76818623A04B}" srcOrd="0" destOrd="0" presId="urn:microsoft.com/office/officeart/2005/8/layout/vList2"/>
    <dgm:cxn modelId="{1A67F01A-B06F-4320-9B79-5B2A2541A66E}" type="presParOf" srcId="{6FE3D817-ED34-4E26-8BAC-2CEAFD5D23DF}" destId="{17F8AD7E-22C2-485C-838C-1052740C40E5}" srcOrd="0" destOrd="0" presId="urn:microsoft.com/office/officeart/2005/8/layout/vList2"/>
    <dgm:cxn modelId="{7C0BC598-687D-4F8F-BDFB-B3357CF2A315}" type="presParOf" srcId="{6FE3D817-ED34-4E26-8BAC-2CEAFD5D23DF}" destId="{94509F7C-0B1B-4E4F-BF95-F1458EBAAAAE}" srcOrd="1" destOrd="0" presId="urn:microsoft.com/office/officeart/2005/8/layout/vList2"/>
    <dgm:cxn modelId="{A3BBF11D-93C9-43A2-ABFF-431EDDC8FBFE}" type="presParOf" srcId="{6FE3D817-ED34-4E26-8BAC-2CEAFD5D23DF}" destId="{0FB251EF-FE2F-4FC5-95F4-9B40824E222C}" srcOrd="2" destOrd="0" presId="urn:microsoft.com/office/officeart/2005/8/layout/vList2"/>
    <dgm:cxn modelId="{E99AB46C-3A1C-45A4-BEC7-E68704389CFE}" type="presParOf" srcId="{6FE3D817-ED34-4E26-8BAC-2CEAFD5D23DF}" destId="{11F9EFA3-D64E-422A-9A67-3FE09E82A32D}" srcOrd="3" destOrd="0" presId="urn:microsoft.com/office/officeart/2005/8/layout/vList2"/>
    <dgm:cxn modelId="{4BACCC68-A224-4D15-BCBD-1CE24E800F93}" type="presParOf" srcId="{6FE3D817-ED34-4E26-8BAC-2CEAFD5D23DF}" destId="{199773F8-48D9-4EEB-B725-6DA721C3A8BF}" srcOrd="4" destOrd="0" presId="urn:microsoft.com/office/officeart/2005/8/layout/vList2"/>
    <dgm:cxn modelId="{5E099B6A-AD64-46E4-B5C7-DF685D1DCBC4}" type="presParOf" srcId="{6FE3D817-ED34-4E26-8BAC-2CEAFD5D23DF}" destId="{FD26492D-A6A0-4A8F-B5A6-3DD0FDB246D0}" srcOrd="5" destOrd="0" presId="urn:microsoft.com/office/officeart/2005/8/layout/vList2"/>
    <dgm:cxn modelId="{FF5707EC-9EE7-4EF2-BB78-088A6D05589D}" type="presParOf" srcId="{6FE3D817-ED34-4E26-8BAC-2CEAFD5D23DF}" destId="{F77A9D87-41D1-4DB0-826D-76818623A04B}" srcOrd="6" destOrd="0" presId="urn:microsoft.com/office/officeart/2005/8/layout/vList2"/>
    <dgm:cxn modelId="{03C86E31-86F6-4D26-8333-8D9FFAEF5E49}" type="presParOf" srcId="{6FE3D817-ED34-4E26-8BAC-2CEAFD5D23DF}" destId="{98A89EC0-6E69-4D2F-AAAA-168642C3BD8D}" srcOrd="7" destOrd="0" presId="urn:microsoft.com/office/officeart/2005/8/layout/vList2"/>
    <dgm:cxn modelId="{EB8E7124-7330-4A41-8DFD-46BB752AF156}" type="presParOf" srcId="{6FE3D817-ED34-4E26-8BAC-2CEAFD5D23DF}" destId="{B45B1E30-0C6C-4271-BD2C-F0CF7754811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C647B-461E-4B56-94C9-118F905A8CD8}">
      <dsp:nvSpPr>
        <dsp:cNvPr id="0" name=""/>
        <dsp:cNvSpPr/>
      </dsp:nvSpPr>
      <dsp:spPr>
        <a:xfrm>
          <a:off x="0" y="33487"/>
          <a:ext cx="4165600" cy="772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HTML Structure has three structures:</a:t>
          </a:r>
        </a:p>
      </dsp:txBody>
      <dsp:txXfrm>
        <a:off x="37696" y="71183"/>
        <a:ext cx="4090208" cy="696808"/>
      </dsp:txXfrm>
    </dsp:sp>
    <dsp:sp modelId="{2FAFCC83-3B67-4AE7-8703-94DCA742188A}">
      <dsp:nvSpPr>
        <dsp:cNvPr id="0" name=""/>
        <dsp:cNvSpPr/>
      </dsp:nvSpPr>
      <dsp:spPr>
        <a:xfrm>
          <a:off x="0" y="863287"/>
          <a:ext cx="4165600" cy="772200"/>
        </a:xfrm>
        <a:prstGeom prst="roundRect">
          <a:avLst/>
        </a:prstGeom>
        <a:solidFill>
          <a:schemeClr val="accent2">
            <a:hueOff val="239517"/>
            <a:satOff val="-1369"/>
            <a:lumOff val="1324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/>
            <a:t>Head, Body and Footer</a:t>
          </a:r>
          <a:endParaRPr lang="en-US" sz="2000" kern="1200"/>
        </a:p>
      </dsp:txBody>
      <dsp:txXfrm>
        <a:off x="37696" y="900983"/>
        <a:ext cx="4090208" cy="696808"/>
      </dsp:txXfrm>
    </dsp:sp>
    <dsp:sp modelId="{EA8CAB4C-4B86-4F00-AD2E-1434C63D7C34}">
      <dsp:nvSpPr>
        <dsp:cNvPr id="0" name=""/>
        <dsp:cNvSpPr/>
      </dsp:nvSpPr>
      <dsp:spPr>
        <a:xfrm>
          <a:off x="0" y="1693087"/>
          <a:ext cx="4165600" cy="772200"/>
        </a:xfrm>
        <a:prstGeom prst="roundRect">
          <a:avLst/>
        </a:prstGeom>
        <a:solidFill>
          <a:schemeClr val="accent2">
            <a:hueOff val="479033"/>
            <a:satOff val="-2738"/>
            <a:lumOff val="2647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/>
            <a:t>Head Section has three main Functions:</a:t>
          </a:r>
          <a:endParaRPr lang="en-US" sz="2000" kern="1200" dirty="0"/>
        </a:p>
      </dsp:txBody>
      <dsp:txXfrm>
        <a:off x="37696" y="1730783"/>
        <a:ext cx="4090208" cy="696808"/>
      </dsp:txXfrm>
    </dsp:sp>
    <dsp:sp modelId="{527B17EB-B728-4C7D-B68B-AB93C1262BBE}">
      <dsp:nvSpPr>
        <dsp:cNvPr id="0" name=""/>
        <dsp:cNvSpPr/>
      </dsp:nvSpPr>
      <dsp:spPr>
        <a:xfrm>
          <a:off x="0" y="2522887"/>
          <a:ext cx="4165600" cy="772200"/>
        </a:xfrm>
        <a:prstGeom prst="roundRect">
          <a:avLst/>
        </a:prstGeom>
        <a:solidFill>
          <a:schemeClr val="accent2">
            <a:hueOff val="718550"/>
            <a:satOff val="-4106"/>
            <a:lumOff val="397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/>
            <a:t>Linking Stylesheets, Fonts and Icons</a:t>
          </a:r>
          <a:endParaRPr lang="en-US" sz="2000" kern="1200" dirty="0"/>
        </a:p>
      </dsp:txBody>
      <dsp:txXfrm>
        <a:off x="37696" y="2560583"/>
        <a:ext cx="4090208" cy="696808"/>
      </dsp:txXfrm>
    </dsp:sp>
    <dsp:sp modelId="{59CBEF19-226C-4361-AC05-14721CC7DA5E}">
      <dsp:nvSpPr>
        <dsp:cNvPr id="0" name=""/>
        <dsp:cNvSpPr/>
      </dsp:nvSpPr>
      <dsp:spPr>
        <a:xfrm>
          <a:off x="0" y="3352687"/>
          <a:ext cx="4165600" cy="772200"/>
        </a:xfrm>
        <a:prstGeom prst="roundRect">
          <a:avLst/>
        </a:prstGeom>
        <a:solidFill>
          <a:schemeClr val="accent2">
            <a:hueOff val="958067"/>
            <a:satOff val="-5475"/>
            <a:lumOff val="5295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1" kern="1200"/>
            <a:t>Google Fonts used: Lexend Deca</a:t>
          </a:r>
          <a:endParaRPr lang="en-US" sz="2000" kern="1200"/>
        </a:p>
      </dsp:txBody>
      <dsp:txXfrm>
        <a:off x="37696" y="3390383"/>
        <a:ext cx="4090208" cy="6968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C5948D-795F-4F20-959E-D3E4C0B86516}">
      <dsp:nvSpPr>
        <dsp:cNvPr id="0" name=""/>
        <dsp:cNvSpPr/>
      </dsp:nvSpPr>
      <dsp:spPr>
        <a:xfrm>
          <a:off x="834483" y="775895"/>
          <a:ext cx="670781" cy="6707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BB77D-D9AD-4510-ACE3-0B8787D81872}">
      <dsp:nvSpPr>
        <dsp:cNvPr id="0" name=""/>
        <dsp:cNvSpPr/>
      </dsp:nvSpPr>
      <dsp:spPr>
        <a:xfrm>
          <a:off x="687" y="1670411"/>
          <a:ext cx="2338373" cy="59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Left Panel</a:t>
          </a:r>
          <a:r>
            <a:rPr lang="en-US" sz="1100" kern="1200" dirty="0"/>
            <a:t>: </a:t>
          </a:r>
          <a:r>
            <a:rPr lang="en-US" sz="1100" b="1" kern="1200" dirty="0"/>
            <a:t>Card Info and Benefits</a:t>
          </a:r>
          <a:r>
            <a:rPr lang="en-US" sz="1100" kern="1200" dirty="0"/>
            <a:t>: Section where information about the credit card and its benefits is displayed.</a:t>
          </a:r>
        </a:p>
      </dsp:txBody>
      <dsp:txXfrm>
        <a:off x="687" y="1670411"/>
        <a:ext cx="2338373" cy="596250"/>
      </dsp:txXfrm>
    </dsp:sp>
    <dsp:sp modelId="{544836CA-0419-495C-80C6-0E8F12F211C6}">
      <dsp:nvSpPr>
        <dsp:cNvPr id="0" name=""/>
        <dsp:cNvSpPr/>
      </dsp:nvSpPr>
      <dsp:spPr>
        <a:xfrm>
          <a:off x="3009841" y="775895"/>
          <a:ext cx="670781" cy="6707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BCFB6-C865-4834-9172-1267AC88945F}">
      <dsp:nvSpPr>
        <dsp:cNvPr id="0" name=""/>
        <dsp:cNvSpPr/>
      </dsp:nvSpPr>
      <dsp:spPr>
        <a:xfrm>
          <a:off x="2599919" y="1670411"/>
          <a:ext cx="1490625" cy="59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Navigation Icons</a:t>
          </a:r>
          <a:r>
            <a:rPr lang="en-US" sz="1100" kern="1200" dirty="0"/>
            <a:t>: Explain the icons that link to other pages like home and back.</a:t>
          </a:r>
        </a:p>
      </dsp:txBody>
      <dsp:txXfrm>
        <a:off x="2599919" y="1670411"/>
        <a:ext cx="1490625" cy="5962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8AD7E-22C2-485C-838C-1052740C40E5}">
      <dsp:nvSpPr>
        <dsp:cNvPr id="0" name=""/>
        <dsp:cNvSpPr/>
      </dsp:nvSpPr>
      <dsp:spPr>
        <a:xfrm>
          <a:off x="0" y="338290"/>
          <a:ext cx="5257838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of Bootstrap</a:t>
          </a:r>
        </a:p>
      </dsp:txBody>
      <dsp:txXfrm>
        <a:off x="25130" y="363420"/>
        <a:ext cx="5207578" cy="464540"/>
      </dsp:txXfrm>
    </dsp:sp>
    <dsp:sp modelId="{0FB251EF-FE2F-4FC5-95F4-9B40824E222C}">
      <dsp:nvSpPr>
        <dsp:cNvPr id="0" name=""/>
        <dsp:cNvSpPr/>
      </dsp:nvSpPr>
      <dsp:spPr>
        <a:xfrm>
          <a:off x="0" y="916450"/>
          <a:ext cx="5257838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Element uses NAV Bar with drop-down</a:t>
          </a:r>
        </a:p>
      </dsp:txBody>
      <dsp:txXfrm>
        <a:off x="25130" y="941580"/>
        <a:ext cx="5207578" cy="464540"/>
      </dsp:txXfrm>
    </dsp:sp>
    <dsp:sp modelId="{199773F8-48D9-4EEB-B725-6DA721C3A8BF}">
      <dsp:nvSpPr>
        <dsp:cNvPr id="0" name=""/>
        <dsp:cNvSpPr/>
      </dsp:nvSpPr>
      <dsp:spPr>
        <a:xfrm>
          <a:off x="0" y="1494610"/>
          <a:ext cx="5257838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Added text box with statements</a:t>
          </a:r>
          <a:endParaRPr lang="en-US" sz="2200" kern="1200"/>
        </a:p>
      </dsp:txBody>
      <dsp:txXfrm>
        <a:off x="25130" y="1519740"/>
        <a:ext cx="5207578" cy="464540"/>
      </dsp:txXfrm>
    </dsp:sp>
    <dsp:sp modelId="{F77A9D87-41D1-4DB0-826D-76818623A04B}">
      <dsp:nvSpPr>
        <dsp:cNvPr id="0" name=""/>
        <dsp:cNvSpPr/>
      </dsp:nvSpPr>
      <dsp:spPr>
        <a:xfrm>
          <a:off x="0" y="2072770"/>
          <a:ext cx="5257838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Added a form for feedback</a:t>
          </a:r>
          <a:endParaRPr lang="en-US" sz="2200" kern="1200"/>
        </a:p>
      </dsp:txBody>
      <dsp:txXfrm>
        <a:off x="25130" y="2097900"/>
        <a:ext cx="5207578" cy="464540"/>
      </dsp:txXfrm>
    </dsp:sp>
    <dsp:sp modelId="{B45B1E30-0C6C-4271-BD2C-F0CF77548110}">
      <dsp:nvSpPr>
        <dsp:cNvPr id="0" name=""/>
        <dsp:cNvSpPr/>
      </dsp:nvSpPr>
      <dsp:spPr>
        <a:xfrm>
          <a:off x="0" y="2650930"/>
          <a:ext cx="5257838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Submit button that prompts a message</a:t>
          </a:r>
          <a:endParaRPr lang="en-US" sz="2200" kern="1200"/>
        </a:p>
      </dsp:txBody>
      <dsp:txXfrm>
        <a:off x="25130" y="2676060"/>
        <a:ext cx="5207578" cy="464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F8FD7-7ECF-4AA5-BED6-EF4554918FAB}" type="datetimeFigureOut">
              <a:rPr lang="en-CA" smtClean="0"/>
              <a:t>2024-08-02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575FB-C0A6-4078-8388-4451096858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5117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9fcb208c9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79fcb208c9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9fcb208c9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79fcb208c9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9fcb208c9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9fcb208c9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9fcb208c9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9fcb208c9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79fcb208c9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79fcb208c9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9fcb208c9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9fcb208c9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9fcb208c9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9fcb208c9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9fcb208c9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9fcb208c9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79fcb208c9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9fcb208c9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9f8c99786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79f8c99786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9f8c99786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9f8c99786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9f8c99786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9f8c99786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9f8c9978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79f8c9978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24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63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36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95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89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33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2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5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10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532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32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6621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43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31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19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1092200" y="1127467"/>
            <a:ext cx="10007600" cy="12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1092200" y="2654300"/>
            <a:ext cx="10007600" cy="32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8009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0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5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>
            <a:extLst>
              <a:ext uri="{FF2B5EF4-FFF2-40B4-BE49-F238E27FC236}">
                <a16:creationId xmlns:a16="http://schemas.microsoft.com/office/drawing/2014/main" id="{FDCDC2EE-07B3-18A9-8FF9-91242C6A54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6463" b="8309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600200" y="1261872"/>
            <a:ext cx="7142018" cy="2852928"/>
          </a:xfrm>
          <a:prstGeom prst="rect">
            <a:avLst/>
          </a:prstGeom>
        </p:spPr>
        <p:txBody>
          <a:bodyPr spcFirstLastPara="1" vert="horz" lIns="121900" tIns="121900" rIns="121900" bIns="121900" rtlCol="0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-CA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SUMMIT BANK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600200" y="4681728"/>
            <a:ext cx="7142018" cy="929296"/>
          </a:xfrm>
          <a:prstGeom prst="rect">
            <a:avLst/>
          </a:prstGeom>
        </p:spPr>
        <p:txBody>
          <a:bodyPr spcFirstLastPara="1" vert="horz" lIns="121900" tIns="121900" rIns="121900" bIns="121900" rtlCol="0" anchorCtr="0">
            <a:normAutofit/>
          </a:bodyPr>
          <a:lstStyle/>
          <a:p>
            <a:pPr>
              <a:lnSpc>
                <a:spcPct val="120000"/>
              </a:lnSpc>
              <a:spcBef>
                <a:spcPts val="1333"/>
              </a:spcBef>
            </a:pPr>
            <a:r>
              <a:rPr lang="en-US" sz="14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BY: ASHOK, ABBAS, ABSHAAR, SIDHARTH, SAHIB, RAMAN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12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5C058100-43D9-C8FB-E90F-A1F582322A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81" b="9750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8BB187-66FC-729F-26B9-65D445B0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6526" y="1261872"/>
            <a:ext cx="7279885" cy="28529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130000"/>
              </a:lnSpc>
            </a:pPr>
            <a:r>
              <a:rPr lang="en-US" sz="3600" spc="1300">
                <a:solidFill>
                  <a:srgbClr val="FFFFFF"/>
                </a:solidFill>
              </a:rPr>
              <a:t>Ashok’s code</a:t>
            </a:r>
          </a:p>
        </p:txBody>
      </p:sp>
    </p:spTree>
    <p:extLst>
      <p:ext uri="{BB962C8B-B14F-4D97-AF65-F5344CB8AC3E}">
        <p14:creationId xmlns:p14="http://schemas.microsoft.com/office/powerpoint/2010/main" val="416286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sz="4800" dirty="0">
                <a:latin typeface="Arial"/>
                <a:ea typeface="Arial"/>
                <a:cs typeface="Arial"/>
                <a:sym typeface="Arial"/>
              </a:rPr>
              <a:t>Key Feature: HTML Document Structure</a:t>
            </a:r>
            <a:endParaRPr dirty="0"/>
          </a:p>
        </p:txBody>
      </p:sp>
      <p:pic>
        <p:nvPicPr>
          <p:cNvPr id="135" name="Google Shape;13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200" y="2654300"/>
            <a:ext cx="7368967" cy="21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1167" y="4007300"/>
            <a:ext cx="3203133" cy="26326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908967" y="5102001"/>
            <a:ext cx="9634800" cy="114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buSzPts val="1100"/>
              <a:buChar char="-"/>
            </a:pPr>
            <a:r>
              <a:rPr lang="en" sz="1467" dirty="0"/>
              <a:t>Meta Tags: Defines character set and viewport settings.</a:t>
            </a:r>
            <a:endParaRPr sz="1467" dirty="0"/>
          </a:p>
          <a:p>
            <a:pPr marL="609585" indent="-397923">
              <a:buSzPts val="1100"/>
              <a:buChar char="-"/>
            </a:pPr>
            <a:r>
              <a:rPr lang="en" sz="1467" dirty="0"/>
              <a:t>Title: Sets the title of the webpage to "SUMMIT Bank".</a:t>
            </a:r>
            <a:endParaRPr sz="1467" dirty="0"/>
          </a:p>
          <a:p>
            <a:pPr marL="609585" indent="-397923">
              <a:buSzPts val="1100"/>
              <a:buChar char="-"/>
            </a:pPr>
            <a:r>
              <a:rPr lang="en" sz="1467" dirty="0"/>
              <a:t>Stylesheets: Links to Bootstrap for responsive design and a custom stylesheet (ashokstyles.css).</a:t>
            </a:r>
            <a:endParaRPr sz="1467" dirty="0"/>
          </a:p>
          <a:p>
            <a:endParaRPr sz="14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>
            <a:spLocks noGrp="1"/>
          </p:cNvSpPr>
          <p:nvPr>
            <p:ph type="title"/>
          </p:nvPr>
        </p:nvSpPr>
        <p:spPr>
          <a:xfrm>
            <a:off x="1092200" y="307867"/>
            <a:ext cx="10007600" cy="85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sz="4800" dirty="0">
                <a:latin typeface="Arial"/>
                <a:ea typeface="Arial"/>
                <a:cs typeface="Arial"/>
                <a:sym typeface="Arial"/>
              </a:rPr>
              <a:t>Key Feature: Navigation Bar (HTML)</a:t>
            </a:r>
            <a:endParaRPr dirty="0"/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374" y="2700334"/>
            <a:ext cx="5534135" cy="3639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3701" y="2700334"/>
            <a:ext cx="5355100" cy="363913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808567" y="1667634"/>
            <a:ext cx="9634800" cy="51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1092200" y="1165867"/>
            <a:ext cx="9634800" cy="1641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buSzPts val="1100"/>
              <a:buChar char="-"/>
            </a:pPr>
            <a:r>
              <a:rPr lang="en" sz="1467"/>
              <a:t>Uses Bootstrap classes to create a responsive and dark-themed navigation bar.</a:t>
            </a:r>
            <a:endParaRPr sz="1467"/>
          </a:p>
          <a:p>
            <a:pPr marL="609585" indent="-397923">
              <a:buSzPts val="1100"/>
              <a:buChar char="-"/>
            </a:pPr>
            <a:r>
              <a:rPr lang="en" sz="1467"/>
              <a:t>Logo and Brand: Includes an image and the bank's name.</a:t>
            </a:r>
            <a:endParaRPr sz="1467"/>
          </a:p>
          <a:p>
            <a:pPr marL="609585" indent="-397923">
              <a:buSzPts val="1100"/>
              <a:buChar char="-"/>
            </a:pPr>
            <a:r>
              <a:rPr lang="en" sz="1467"/>
              <a:t>Navigation Links: Links to different sections like "Investments," "Credit Cards," "Appointment," and "Accessibility".</a:t>
            </a:r>
            <a:endParaRPr sz="1467"/>
          </a:p>
          <a:p>
            <a:pPr marL="609585" indent="-397923">
              <a:buSzPts val="1100"/>
              <a:buChar char="-"/>
            </a:pPr>
            <a:r>
              <a:rPr lang="en" sz="1467"/>
              <a:t>Responsive Toggle Button: Allows collapsing the menu on smaller screens.</a:t>
            </a:r>
            <a:endParaRPr sz="1467"/>
          </a:p>
          <a:p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sz="4800" dirty="0">
                <a:latin typeface="Arial"/>
                <a:ea typeface="Arial"/>
                <a:cs typeface="Arial"/>
                <a:sym typeface="Arial"/>
              </a:rPr>
              <a:t>Key Feature: Main Content (HTML)</a:t>
            </a:r>
            <a:endParaRPr dirty="0"/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700" y="3840564"/>
            <a:ext cx="8587568" cy="1780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1278600" y="4845733"/>
            <a:ext cx="9634800" cy="1641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buSzPts val="1100"/>
              <a:buChar char="-"/>
            </a:pPr>
            <a:r>
              <a:rPr lang="en" sz="1467"/>
              <a:t>Welcome Section: A welcoming message introducing SUMMIT Bank.</a:t>
            </a:r>
            <a:endParaRPr sz="1467"/>
          </a:p>
          <a:p>
            <a:pPr marL="609585" indent="-397923">
              <a:buSzPts val="1100"/>
              <a:buChar char="-"/>
            </a:pPr>
            <a:r>
              <a:rPr lang="en" sz="1467"/>
              <a:t>Investment Options: A grid layout (using Bootstrap's grid system) showcasing different investment products (TSFA, GIC, RRSP) with images and descriptions.</a:t>
            </a:r>
            <a:endParaRPr sz="1467"/>
          </a:p>
          <a:p>
            <a:pPr marL="609585" indent="-397923">
              <a:buSzPts val="1100"/>
              <a:buChar char="-"/>
            </a:pPr>
            <a:r>
              <a:rPr lang="en" sz="1467"/>
              <a:t>Account Types: Another grid layout detailing various account types (Checking Account, Saving Account, Money Marketing Account) with images and descriptions.</a:t>
            </a:r>
            <a:endParaRPr sz="1467"/>
          </a:p>
          <a:p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092200" y="508567"/>
            <a:ext cx="10007600" cy="127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-US" sz="4800" dirty="0">
                <a:latin typeface="Arial"/>
                <a:ea typeface="Arial"/>
                <a:cs typeface="Arial"/>
                <a:sym typeface="Arial"/>
              </a:rPr>
              <a:t>Key Features: Investment Options (HTML)</a:t>
            </a:r>
            <a:endParaRPr lang="en-US" dirty="0"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866" y="2089132"/>
            <a:ext cx="8654468" cy="24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8226" y="4624701"/>
            <a:ext cx="5139108" cy="199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7449133" y="5213734"/>
            <a:ext cx="4761600" cy="51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991833" y="575467"/>
            <a:ext cx="10007600" cy="127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sz="4800" dirty="0">
                <a:latin typeface="Arial"/>
                <a:ea typeface="Arial"/>
                <a:cs typeface="Arial"/>
                <a:sym typeface="Arial"/>
              </a:rPr>
              <a:t>Key Features: Account Types (HTML)</a:t>
            </a:r>
            <a:endParaRPr dirty="0"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829" y="1396434"/>
            <a:ext cx="6439768" cy="3033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6367" y="4630866"/>
            <a:ext cx="7505268" cy="18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858033" y="592233"/>
            <a:ext cx="10007600" cy="127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sz="4800" dirty="0">
                <a:latin typeface="Arial"/>
                <a:ea typeface="Arial"/>
                <a:cs typeface="Arial"/>
                <a:sym typeface="Arial"/>
              </a:rPr>
              <a:t>Key Features: Credit Card Products (HTML)</a:t>
            </a:r>
            <a:endParaRPr dirty="0"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632" y="2277061"/>
            <a:ext cx="5895365" cy="2598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8634" y="2277065"/>
            <a:ext cx="5428665" cy="230386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808567" y="5381000"/>
            <a:ext cx="9634800" cy="119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buSzPts val="1100"/>
              <a:buChar char="-"/>
            </a:pPr>
            <a:r>
              <a:rPr lang="en" sz="1467"/>
              <a:t>Uses a collapsible accordion to display credit card options.</a:t>
            </a:r>
            <a:endParaRPr sz="1467"/>
          </a:p>
          <a:p>
            <a:pPr marL="609585" indent="-397923">
              <a:buSzPts val="1100"/>
              <a:buChar char="-"/>
            </a:pPr>
            <a:r>
              <a:rPr lang="en" sz="1467"/>
              <a:t>Card Details: Each card includes an image, a title, a button to reveal more information, and a link to apply.</a:t>
            </a:r>
            <a:endParaRPr sz="1467"/>
          </a:p>
          <a:p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1092200" y="424933"/>
            <a:ext cx="10007600" cy="127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sz="4800" dirty="0">
                <a:latin typeface="Arial"/>
                <a:ea typeface="Arial"/>
                <a:cs typeface="Arial"/>
                <a:sym typeface="Arial"/>
              </a:rPr>
              <a:t>Key Features: Application Page (HTML)</a:t>
            </a:r>
            <a:endParaRPr dirty="0"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624" y="2713733"/>
            <a:ext cx="8708809" cy="32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10476700" y="3306867"/>
            <a:ext cx="1734000" cy="51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611467" y="5882800"/>
            <a:ext cx="9634800" cy="51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092933" y="5431200"/>
            <a:ext cx="9634800" cy="697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buSzPts val="1100"/>
              <a:buChar char="-"/>
            </a:pPr>
            <a:r>
              <a:rPr lang="en" sz="1467"/>
              <a:t>Overview Section: Provides an overview of the benefits of the credit card and navigation buttons to return to the home or credit card page.</a:t>
            </a: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>
            <a:spLocks noGrp="1"/>
          </p:cNvSpPr>
          <p:nvPr>
            <p:ph type="title"/>
          </p:nvPr>
        </p:nvSpPr>
        <p:spPr>
          <a:xfrm>
            <a:off x="1209300" y="374733"/>
            <a:ext cx="10007600" cy="127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sz="4800" dirty="0">
                <a:latin typeface="Arial"/>
                <a:ea typeface="Arial"/>
                <a:cs typeface="Arial"/>
                <a:sym typeface="Arial"/>
              </a:rPr>
              <a:t>Key Features: Javascript Function</a:t>
            </a:r>
            <a:endParaRPr dirty="0"/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569" y="2898483"/>
            <a:ext cx="10377331" cy="161883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1176567" y="4394133"/>
            <a:ext cx="96348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14856">
              <a:buSzPts val="1300"/>
              <a:buFont typeface="Calibri"/>
              <a:buChar char="-"/>
            </a:pPr>
            <a:r>
              <a:rPr lang="en" sz="1467"/>
              <a:t>A custom script for a function (</a:t>
            </a:r>
            <a:r>
              <a:rPr lang="en" sz="1467">
                <a:latin typeface="Roboto Mono"/>
                <a:ea typeface="Roboto Mono"/>
                <a:cs typeface="Roboto Mono"/>
                <a:sym typeface="Roboto Mono"/>
              </a:rPr>
              <a:t>myFunction</a:t>
            </a:r>
            <a:r>
              <a:rPr lang="en" sz="1467"/>
              <a:t>) that triggers an alert message when a button is clicked.</a:t>
            </a:r>
            <a:endParaRPr sz="1733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sz="4800" dirty="0">
                <a:latin typeface="Arial"/>
                <a:ea typeface="Arial"/>
                <a:cs typeface="Arial"/>
                <a:sym typeface="Arial"/>
              </a:rPr>
              <a:t>Key Features: Javascript Function</a:t>
            </a:r>
            <a:endParaRPr dirty="0"/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067" y="3875132"/>
            <a:ext cx="10092965" cy="157446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975833" y="4996300"/>
            <a:ext cx="9634800" cy="51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14856">
              <a:buClr>
                <a:schemeClr val="dk2"/>
              </a:buClr>
              <a:buSzPts val="1300"/>
              <a:buFont typeface="Calibri"/>
              <a:buChar char="-"/>
            </a:pP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0642DB9C-DEF5-87D9-B617-780050BFDC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81" b="9750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2B7207-60F6-579D-1E9B-B94D94EBE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6526" y="1261872"/>
            <a:ext cx="7279885" cy="28529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130000"/>
              </a:lnSpc>
            </a:pPr>
            <a:r>
              <a:rPr lang="en-US" sz="3600" spc="1300">
                <a:solidFill>
                  <a:srgbClr val="FFFFFF"/>
                </a:solidFill>
              </a:rPr>
              <a:t>Abbas’s Code</a:t>
            </a:r>
          </a:p>
        </p:txBody>
      </p:sp>
    </p:spTree>
    <p:extLst>
      <p:ext uri="{BB962C8B-B14F-4D97-AF65-F5344CB8AC3E}">
        <p14:creationId xmlns:p14="http://schemas.microsoft.com/office/powerpoint/2010/main" val="2820046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2478271" y="2430444"/>
            <a:ext cx="7148400" cy="193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"/>
              <a:t>Appointments Page</a:t>
            </a: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2478267" y="4550877"/>
            <a:ext cx="7148400" cy="6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"/>
              <a:t>Abbas 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Why Create An Appointments Page?</a:t>
            </a:r>
            <a:endParaRPr/>
          </a:p>
        </p:txBody>
      </p:sp>
      <p:pic>
        <p:nvPicPr>
          <p:cNvPr id="135" name="Google Shape;135;p14" title="www.bridges-canada.com/cdn/shop/files/time-timer-h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33" y="2060105"/>
            <a:ext cx="2465699" cy="21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/>
        </p:nvSpPr>
        <p:spPr>
          <a:xfrm>
            <a:off x="2842067" y="2672134"/>
            <a:ext cx="7985600" cy="126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7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-Client Convenience</a:t>
            </a: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4" title="File:ESEM GDD efficiency.png - Wikipedi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433" y="4247601"/>
            <a:ext cx="2111632" cy="206007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3059333" y="4911834"/>
            <a:ext cx="7754000" cy="75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en" sz="17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-Efficiency for Advisors </a:t>
            </a: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4" title="File:Nintendo-NES-Advantage-Controller.jpg - Wikipedia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1737" y="3181833"/>
            <a:ext cx="2278297" cy="165196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4"/>
          <p:cNvSpPr txBox="1"/>
          <p:nvPr/>
        </p:nvSpPr>
        <p:spPr>
          <a:xfrm>
            <a:off x="8356267" y="3969201"/>
            <a:ext cx="3104800" cy="75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en" sz="17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-Competitive Advantage</a:t>
            </a: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Solution Overview</a:t>
            </a:r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body" idx="1"/>
          </p:nvPr>
        </p:nvSpPr>
        <p:spPr>
          <a:xfrm>
            <a:off x="423433" y="1868967"/>
            <a:ext cx="10676400" cy="404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None/>
            </a:pPr>
            <a:endParaRPr/>
          </a:p>
          <a:p>
            <a:pPr marL="0" indent="0">
              <a:spcBef>
                <a:spcPts val="1600"/>
              </a:spcBef>
              <a:buNone/>
            </a:pPr>
            <a:endParaRPr/>
          </a:p>
          <a:p>
            <a:pPr marL="0" indent="0">
              <a:spcBef>
                <a:spcPts val="1600"/>
              </a:spcBef>
              <a:buNone/>
            </a:pPr>
            <a:endParaRPr/>
          </a:p>
          <a:p>
            <a:pPr marL="0" indent="0">
              <a:spcBef>
                <a:spcPts val="1600"/>
              </a:spcBef>
              <a:buNone/>
            </a:pPr>
            <a:endParaRPr/>
          </a:p>
          <a:p>
            <a:pPr marL="0" indent="0">
              <a:spcBef>
                <a:spcPts val="1600"/>
              </a:spcBef>
              <a:buNone/>
            </a:pPr>
            <a:endParaRPr/>
          </a:p>
          <a:p>
            <a:pPr marL="0" indent="0">
              <a:spcBef>
                <a:spcPts val="1600"/>
              </a:spcBef>
              <a:buNone/>
            </a:pPr>
            <a:endParaRPr/>
          </a:p>
          <a:p>
            <a:pPr marL="0" indent="0">
              <a:spcBef>
                <a:spcPts val="1600"/>
              </a:spcBef>
              <a:buNone/>
            </a:pPr>
            <a:endParaRPr/>
          </a:p>
          <a:p>
            <a:pPr marL="0" indent="0">
              <a:spcBef>
                <a:spcPts val="1600"/>
              </a:spcBef>
              <a:buNone/>
            </a:pPr>
            <a:endParaRPr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999" y="1591534"/>
            <a:ext cx="5462467" cy="2597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600" y="3883933"/>
            <a:ext cx="5037835" cy="2672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5344432" y="4861151"/>
            <a:ext cx="5193239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</a:t>
            </a:r>
            <a:r>
              <a:rPr lang="en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Real Time Availability</a:t>
            </a:r>
            <a:endParaRPr sz="28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464733" y="2633851"/>
            <a:ext cx="5462467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Interactive Appointment Booking</a:t>
            </a:r>
            <a:r>
              <a:rPr lang="en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endParaRPr sz="28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>
            <a:spLocks noGrp="1"/>
          </p:cNvSpPr>
          <p:nvPr>
            <p:ph type="title"/>
          </p:nvPr>
        </p:nvSpPr>
        <p:spPr>
          <a:xfrm>
            <a:off x="272900" y="293400"/>
            <a:ext cx="10007600" cy="127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Technical Highlights	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641567" y="1227800"/>
            <a:ext cx="6533600" cy="51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7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-Importing Calendar using Flatpickr</a:t>
            </a: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900" y="1042467"/>
            <a:ext cx="4402400" cy="22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4641567" y="1741000"/>
            <a:ext cx="6765200" cy="51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7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Creating a html container to hold the calendar</a:t>
            </a: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4664767" y="2320867"/>
            <a:ext cx="6718800" cy="51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7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-Using javascript functions to create a dynamic response</a:t>
            </a: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900" y="3336333"/>
            <a:ext cx="4214333" cy="73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900" y="4161068"/>
            <a:ext cx="6183499" cy="234403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4487233" y="3555200"/>
            <a:ext cx="7398800" cy="51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7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-Creating a function that stores advisors name in the url</a:t>
            </a: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6549167" y="4324834"/>
            <a:ext cx="4834400" cy="51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7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-Extract advisor name from the url</a:t>
            </a: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6549167" y="4789534"/>
            <a:ext cx="4834400" cy="51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7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-Extract selected time</a:t>
            </a: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6549167" y="5239867"/>
            <a:ext cx="4834400" cy="77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73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-Simulate a loading screen so user knows appt is booked</a:t>
            </a:r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450367" y="401500"/>
            <a:ext cx="10007600" cy="127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/>
              <a:t>Market Potential</a:t>
            </a:r>
            <a:endParaRPr/>
          </a:p>
        </p:txBody>
      </p:sp>
      <p:pic>
        <p:nvPicPr>
          <p:cNvPr id="171" name="Google Shape;17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34" y="1312283"/>
            <a:ext cx="3828167" cy="2233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4201299" y="1868934"/>
            <a:ext cx="4993151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36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2800" dirty="0"/>
              <a:t>New stream of lead generation for businesses</a:t>
            </a:r>
            <a:endParaRPr sz="2800" dirty="0"/>
          </a:p>
        </p:txBody>
      </p:sp>
      <p:pic>
        <p:nvPicPr>
          <p:cNvPr id="173" name="Google Shape;173;p17" title="File:P × Q = Total Revenue.jpg - Wikimedia Common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734" y="3878467"/>
            <a:ext cx="4070964" cy="248526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7213267" y="4232200"/>
            <a:ext cx="355200" cy="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733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4322700" y="4864501"/>
            <a:ext cx="7089600" cy="153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-Revenue Opportunities</a:t>
            </a:r>
            <a:endParaRPr sz="28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28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" sz="2800" dirty="0"/>
              <a:t>Can be rebranded and used by anyone</a:t>
            </a:r>
            <a:endParaRPr sz="2800" dirty="0"/>
          </a:p>
          <a:p>
            <a:endParaRPr sz="28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4A4D3C02-47DD-DE01-F876-0E502B170E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81" b="9749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9719BB-308D-5E60-B3E0-A7E3689F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583" y="860548"/>
            <a:ext cx="6223552" cy="2902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4000" b="1" spc="1300" dirty="0">
                <a:solidFill>
                  <a:srgbClr val="FFFFFF"/>
                </a:solidFill>
              </a:rPr>
              <a:t>Sahib’s CODE</a:t>
            </a:r>
          </a:p>
        </p:txBody>
      </p:sp>
    </p:spTree>
    <p:extLst>
      <p:ext uri="{BB962C8B-B14F-4D97-AF65-F5344CB8AC3E}">
        <p14:creationId xmlns:p14="http://schemas.microsoft.com/office/powerpoint/2010/main" val="3125137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721B6DE-8558-76FB-938F-730B1E780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06609" y="2339836"/>
            <a:ext cx="6431706" cy="2653078"/>
          </a:xfrm>
          <a:prstGeom prst="rect">
            <a:avLst/>
          </a:prstGeom>
        </p:spPr>
      </p:pic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70D43FEE-2F45-56FB-AA60-A5FD517D9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637697"/>
              </p:ext>
            </p:extLst>
          </p:nvPr>
        </p:nvGraphicFramePr>
        <p:xfrm>
          <a:off x="6675718" y="1405719"/>
          <a:ext cx="4165600" cy="4158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1619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E86A-2043-27B5-A8D6-45E863C6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0418" y="706034"/>
            <a:ext cx="5724032" cy="1454780"/>
          </a:xfrm>
        </p:spPr>
        <p:txBody>
          <a:bodyPr>
            <a:normAutofit/>
          </a:bodyPr>
          <a:lstStyle/>
          <a:p>
            <a:r>
              <a:rPr lang="en-CA" b="1" dirty="0"/>
              <a:t>Investments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6076-BDB5-CE21-2468-055888241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0418" y="2591445"/>
            <a:ext cx="5297144" cy="3546884"/>
          </a:xfrm>
        </p:spPr>
        <p:txBody>
          <a:bodyPr>
            <a:normAutofit/>
          </a:bodyPr>
          <a:lstStyle/>
          <a:p>
            <a:r>
              <a:rPr lang="en-CA" dirty="0"/>
              <a:t>It has Following main elements:</a:t>
            </a:r>
          </a:p>
          <a:p>
            <a:r>
              <a:rPr lang="en-CA" dirty="0"/>
              <a:t>1. Carousel</a:t>
            </a:r>
          </a:p>
          <a:p>
            <a:r>
              <a:rPr lang="en-CA" dirty="0"/>
              <a:t>2. Sign Up Button</a:t>
            </a:r>
          </a:p>
          <a:p>
            <a:r>
              <a:rPr lang="en-CA" dirty="0"/>
              <a:t>3. Arrow-Buttons</a:t>
            </a:r>
          </a:p>
          <a:p>
            <a:r>
              <a:rPr lang="en-CA" dirty="0"/>
              <a:t>4. SVJ File</a:t>
            </a:r>
          </a:p>
          <a:p>
            <a:r>
              <a:rPr lang="en-CA" dirty="0"/>
              <a:t>5. Image Cards</a:t>
            </a:r>
          </a:p>
        </p:txBody>
      </p:sp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09B97D1-72F5-B0DF-815E-24DB991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06" b="1"/>
          <a:stretch/>
        </p:blipFill>
        <p:spPr>
          <a:xfrm>
            <a:off x="818972" y="706034"/>
            <a:ext cx="3388946" cy="2406383"/>
          </a:xfrm>
          <a:prstGeom prst="rect">
            <a:avLst/>
          </a:prstGeom>
          <a:effectLst>
            <a:outerShdw dist="165100" dir="8100000" algn="tr" rotWithShape="0">
              <a:schemeClr val="tx1"/>
            </a:outerShdw>
          </a:effectLst>
        </p:spPr>
      </p:pic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E02770DE-20CF-0056-3281-808944BC2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2" b="1"/>
          <a:stretch/>
        </p:blipFill>
        <p:spPr>
          <a:xfrm>
            <a:off x="1420052" y="3612106"/>
            <a:ext cx="3388946" cy="2406383"/>
          </a:xfrm>
          <a:prstGeom prst="rect">
            <a:avLst/>
          </a:prstGeom>
          <a:effectLst>
            <a:outerShdw dist="190500" dir="8100000" algn="bl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1055477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2E1E-82CD-1E75-006C-DA5666720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2745" y="551732"/>
            <a:ext cx="4516583" cy="2939143"/>
          </a:xfrm>
        </p:spPr>
        <p:txBody>
          <a:bodyPr anchor="t">
            <a:normAutofit/>
          </a:bodyPr>
          <a:lstStyle/>
          <a:p>
            <a:pPr algn="r"/>
            <a:r>
              <a:rPr lang="en-US" sz="2800" b="1"/>
              <a:t>Investments</a:t>
            </a:r>
            <a:br>
              <a:rPr lang="en-US" sz="2800" b="1"/>
            </a:br>
            <a:br>
              <a:rPr lang="en-US" sz="2800" b="1"/>
            </a:br>
            <a:r>
              <a:rPr lang="en-US" sz="2800" b="1"/>
              <a:t>page</a:t>
            </a:r>
            <a:endParaRPr lang="en-CA" sz="2800" b="1"/>
          </a:p>
        </p:txBody>
      </p:sp>
      <p:pic>
        <p:nvPicPr>
          <p:cNvPr id="5" name="Picture 4" descr="A screenshot of a website&#10;&#10;Description automatically generated">
            <a:extLst>
              <a:ext uri="{FF2B5EF4-FFF2-40B4-BE49-F238E27FC236}">
                <a16:creationId xmlns:a16="http://schemas.microsoft.com/office/drawing/2014/main" id="{0AE057C2-5801-5A44-9146-A9B1FD3506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" b="-5208"/>
          <a:stretch/>
        </p:blipFill>
        <p:spPr>
          <a:xfrm>
            <a:off x="335643" y="2021305"/>
            <a:ext cx="7007070" cy="461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9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DCF-F14B-6003-C5A3-F356DCD77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05" y="791851"/>
            <a:ext cx="4091233" cy="1960775"/>
          </a:xfrm>
        </p:spPr>
        <p:txBody>
          <a:bodyPr>
            <a:normAutofit/>
          </a:bodyPr>
          <a:lstStyle/>
          <a:p>
            <a:r>
              <a:rPr lang="en-CA" dirty="0"/>
              <a:t>Sign UP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2777-BF42-BBFB-E806-BA9E5E000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705" y="3091543"/>
            <a:ext cx="6069065" cy="3042557"/>
          </a:xfrm>
        </p:spPr>
        <p:txBody>
          <a:bodyPr>
            <a:normAutofit/>
          </a:bodyPr>
          <a:lstStyle/>
          <a:p>
            <a:r>
              <a:rPr lang="en-CA" dirty="0"/>
              <a:t>Input Text Feedback Form</a:t>
            </a:r>
          </a:p>
          <a:p>
            <a:r>
              <a:rPr lang="en-CA" dirty="0"/>
              <a:t>Check the box for selecting </a:t>
            </a:r>
          </a:p>
          <a:p>
            <a:r>
              <a:rPr lang="en-CA" dirty="0"/>
              <a:t>Sign Up Button</a:t>
            </a:r>
          </a:p>
          <a:p>
            <a:r>
              <a:rPr lang="en-CA" dirty="0"/>
              <a:t>Script for Feedback when Clicked</a:t>
            </a:r>
          </a:p>
        </p:txBody>
      </p:sp>
      <p:pic>
        <p:nvPicPr>
          <p:cNvPr id="5" name="Picture 4" descr="A screenshot of a login page&#10;&#10;Description automatically generated">
            <a:extLst>
              <a:ext uri="{FF2B5EF4-FFF2-40B4-BE49-F238E27FC236}">
                <a16:creationId xmlns:a16="http://schemas.microsoft.com/office/drawing/2014/main" id="{D62E899F-450B-F016-8018-944FE3D7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5" r="15756" b="1"/>
          <a:stretch/>
        </p:blipFill>
        <p:spPr>
          <a:xfrm>
            <a:off x="5642313" y="791852"/>
            <a:ext cx="5746238" cy="52790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52405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10F2-C058-9B88-0CCA-FAAD0F0EB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88" y="220369"/>
            <a:ext cx="6561786" cy="1960775"/>
          </a:xfrm>
        </p:spPr>
        <p:txBody>
          <a:bodyPr>
            <a:normAutofit/>
          </a:bodyPr>
          <a:lstStyle/>
          <a:p>
            <a:r>
              <a:rPr lang="en-CA" dirty="0"/>
              <a:t>SIGN UP PAGE SNIPETS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C5E6909-61AB-22AB-76B4-383CA5CC8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706" y="3091543"/>
            <a:ext cx="4958959" cy="3042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Code Highlights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9A2B6EF-CB73-D550-C5C1-D1590F3C4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8" b="-2"/>
          <a:stretch/>
        </p:blipFill>
        <p:spPr>
          <a:xfrm>
            <a:off x="6870017" y="220369"/>
            <a:ext cx="4669313" cy="30171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26797E3-0A89-96F7-E3A3-4B84E1A64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97" b="3"/>
          <a:stretch/>
        </p:blipFill>
        <p:spPr>
          <a:xfrm>
            <a:off x="6929090" y="3750711"/>
            <a:ext cx="4669313" cy="30230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21988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81525-D669-1D44-52B6-C0A5B863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323" y="38072"/>
            <a:ext cx="6223552" cy="2902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3600" spc="1300" dirty="0">
                <a:solidFill>
                  <a:srgbClr val="FFFFFF"/>
                </a:solidFill>
              </a:rPr>
              <a:t>Accounts page</a:t>
            </a:r>
          </a:p>
        </p:txBody>
      </p:sp>
      <p:pic>
        <p:nvPicPr>
          <p:cNvPr id="5" name="Content Placeholder 4" descr="A screenshot of a red and white website&#10;&#10;Description automatically generated">
            <a:extLst>
              <a:ext uri="{FF2B5EF4-FFF2-40B4-BE49-F238E27FC236}">
                <a16:creationId xmlns:a16="http://schemas.microsoft.com/office/drawing/2014/main" id="{BBF7158D-EAAE-192F-BE56-BB2D16CD5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55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00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10F2-C058-9B88-0CCA-FAAD0F0EB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902" y="392339"/>
            <a:ext cx="5022997" cy="1768475"/>
          </a:xfrm>
        </p:spPr>
        <p:txBody>
          <a:bodyPr>
            <a:normAutofit/>
          </a:bodyPr>
          <a:lstStyle/>
          <a:p>
            <a:r>
              <a:rPr lang="en-CA" dirty="0"/>
              <a:t>Accounts page snippets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C5E6909-61AB-22AB-76B4-383CA5CC8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903" y="2630079"/>
            <a:ext cx="4917184" cy="3546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Code Highlights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4EDE447-1524-E2B9-3438-81C7C752B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575"/>
          <a:stretch/>
        </p:blipFill>
        <p:spPr>
          <a:xfrm>
            <a:off x="905914" y="982980"/>
            <a:ext cx="1997979" cy="2263140"/>
          </a:xfrm>
          <a:prstGeom prst="rect">
            <a:avLst/>
          </a:prstGeom>
          <a:effectLst>
            <a:outerShdw dist="165100" dir="8100000" algn="ctr" rotWithShape="0">
              <a:schemeClr val="tx1"/>
            </a:outerShdw>
          </a:effectLst>
        </p:spPr>
      </p:pic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1D79F5C-03CB-B23E-841C-9533FB89BD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00" r="35688" b="936"/>
          <a:stretch/>
        </p:blipFill>
        <p:spPr>
          <a:xfrm>
            <a:off x="3366626" y="982980"/>
            <a:ext cx="2456472" cy="2237388"/>
          </a:xfrm>
          <a:prstGeom prst="rect">
            <a:avLst/>
          </a:prstGeom>
          <a:effectLst>
            <a:outerShdw dist="165100" dir="8100000" algn="ctr" rotWithShape="0">
              <a:schemeClr val="tx1"/>
            </a:outerShdw>
          </a:effectLst>
        </p:spPr>
      </p:pic>
      <p:pic>
        <p:nvPicPr>
          <p:cNvPr id="10" name="Picture 9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C1E057D5-4685-C771-F600-D30ACF134F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" r="50322" b="-3"/>
          <a:stretch/>
        </p:blipFill>
        <p:spPr>
          <a:xfrm>
            <a:off x="905914" y="3637632"/>
            <a:ext cx="1997979" cy="2263140"/>
          </a:xfrm>
          <a:prstGeom prst="rect">
            <a:avLst/>
          </a:prstGeom>
          <a:effectLst>
            <a:outerShdw dist="165100" dir="8100000" algn="ctr" rotWithShape="0">
              <a:schemeClr val="tx1"/>
            </a:outerShdw>
          </a:effectLst>
        </p:spPr>
      </p:pic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86EBED3-ED65-1EAC-035A-EAFC8916408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6" r="18291" b="4"/>
          <a:stretch/>
        </p:blipFill>
        <p:spPr>
          <a:xfrm>
            <a:off x="3366626" y="3637632"/>
            <a:ext cx="3046874" cy="2263140"/>
          </a:xfrm>
          <a:prstGeom prst="rect">
            <a:avLst/>
          </a:prstGeom>
          <a:effectLst>
            <a:outerShdw dist="165100" dir="8100000" algn="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2777538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9445-A611-BCF7-7BBD-3DDDEE46E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151" y="1920201"/>
            <a:ext cx="5803774" cy="1880152"/>
          </a:xfrm>
        </p:spPr>
        <p:txBody>
          <a:bodyPr>
            <a:normAutofit/>
          </a:bodyPr>
          <a:lstStyle/>
          <a:p>
            <a:r>
              <a:rPr lang="en-CA" dirty="0"/>
              <a:t>JAVA-SCRIPT FUNCTIONALITY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845BB4-0491-8042-DF3D-6D0D168444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3281080"/>
            <a:ext cx="5882859" cy="28353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CA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JavaScript Functionality</a:t>
            </a:r>
            <a:r>
              <a:rPr lang="en-CA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CA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</a:t>
            </a:r>
            <a:r>
              <a:rPr lang="en-CA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addEventListener</a:t>
            </a:r>
            <a:endParaRPr lang="en-CA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CA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</a:t>
            </a:r>
            <a:r>
              <a:rPr lang="en-CA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 </a:t>
            </a:r>
            <a:r>
              <a:rPr lang="en-CA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CloseModalAnd</a:t>
            </a:r>
            <a:r>
              <a:rPr lang="en-CA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</a:t>
            </a:r>
            <a:r>
              <a:rPr lang="en-CA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2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CA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</a:t>
            </a:r>
            <a:r>
              <a:rPr lang="en-CA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QuerySelector</a:t>
            </a:r>
            <a:endParaRPr lang="en-C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6B9ECF6-3981-24AB-7A14-C2FE278D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65" y="311867"/>
            <a:ext cx="4769825" cy="2969214"/>
          </a:xfrm>
          <a:prstGeom prst="rect">
            <a:avLst/>
          </a:prstGeom>
          <a:effectLst/>
        </p:spPr>
      </p:pic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B1B8AE0-3FAE-5780-EFAD-9434AD6B3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153" y="78695"/>
            <a:ext cx="5449772" cy="1594059"/>
          </a:xfrm>
          <a:prstGeom prst="rect">
            <a:avLst/>
          </a:prstGeom>
          <a:effectLst/>
        </p:spPr>
      </p:pic>
      <p:pic>
        <p:nvPicPr>
          <p:cNvPr id="10" name="Picture 9" descr="A computer screen with text&#10;&#10;Description automatically generated">
            <a:extLst>
              <a:ext uri="{FF2B5EF4-FFF2-40B4-BE49-F238E27FC236}">
                <a16:creationId xmlns:a16="http://schemas.microsoft.com/office/drawing/2014/main" id="{F249D72E-FA76-1A28-6D34-2485559AFCE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4" r="22209"/>
          <a:stretch/>
        </p:blipFill>
        <p:spPr>
          <a:xfrm>
            <a:off x="153665" y="4319625"/>
            <a:ext cx="5456106" cy="222650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22669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DF53526C-888A-BBC3-C1EA-96E1ABB5C1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81" b="9750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6A0D6D-6408-E9E9-FC48-4EBA9F563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6526" y="1261872"/>
            <a:ext cx="7279885" cy="28529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130000"/>
              </a:lnSpc>
            </a:pPr>
            <a:r>
              <a:rPr lang="en-US" sz="3600" spc="1300">
                <a:solidFill>
                  <a:srgbClr val="FFFFFF"/>
                </a:solidFill>
              </a:rPr>
              <a:t>SID’S CODE</a:t>
            </a:r>
          </a:p>
        </p:txBody>
      </p:sp>
    </p:spTree>
    <p:extLst>
      <p:ext uri="{BB962C8B-B14F-4D97-AF65-F5344CB8AC3E}">
        <p14:creationId xmlns:p14="http://schemas.microsoft.com/office/powerpoint/2010/main" val="3717065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7234C-07DE-2B73-C6C7-215FEDC113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Credit Card 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3E372-42F1-0019-3960-BB2B687598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- Sidarth</a:t>
            </a:r>
          </a:p>
        </p:txBody>
      </p:sp>
    </p:spTree>
    <p:extLst>
      <p:ext uri="{BB962C8B-B14F-4D97-AF65-F5344CB8AC3E}">
        <p14:creationId xmlns:p14="http://schemas.microsoft.com/office/powerpoint/2010/main" val="3147908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48A2-DEFE-2472-87B9-F1EAD155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67650-48E8-C1EE-CDA2-5A45CCBFA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07EE0-EAE9-A910-C3F0-0E49BBA83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" y="365125"/>
            <a:ext cx="11832336" cy="603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70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D9C0D6-75E2-DD2A-5FB0-57ED1381EE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35"/>
          <a:stretch/>
        </p:blipFill>
        <p:spPr>
          <a:xfrm>
            <a:off x="136780" y="1135879"/>
            <a:ext cx="7215924" cy="42865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6EBFCF-BA83-6F82-823B-1E0F35EA51C2}"/>
              </a:ext>
            </a:extLst>
          </p:cNvPr>
          <p:cNvSpPr/>
          <p:nvPr/>
        </p:nvSpPr>
        <p:spPr>
          <a:xfrm>
            <a:off x="6912864" y="2999232"/>
            <a:ext cx="439840" cy="1417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431A2-EE67-FCE3-2CBF-671CFED03ED0}"/>
              </a:ext>
            </a:extLst>
          </p:cNvPr>
          <p:cNvCxnSpPr/>
          <p:nvPr/>
        </p:nvCxnSpPr>
        <p:spPr>
          <a:xfrm flipV="1">
            <a:off x="7352704" y="1984248"/>
            <a:ext cx="501992" cy="1014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C1610CB-748F-3E95-8991-7792911BF40B}"/>
              </a:ext>
            </a:extLst>
          </p:cNvPr>
          <p:cNvSpPr txBox="1"/>
          <p:nvPr/>
        </p:nvSpPr>
        <p:spPr>
          <a:xfrm>
            <a:off x="7854697" y="1234440"/>
            <a:ext cx="3438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Toggle – buttons to switch from current card to next one or previous one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59083D-8EB0-E545-AC31-85CAA724B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700" y="5045392"/>
            <a:ext cx="4227814" cy="14564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817CA9-AC81-B5DF-C48E-BBEACA7FA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4176498"/>
            <a:ext cx="4538852" cy="78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30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E680FD-A746-A223-9C47-EAB41E7C7B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26" t="25852" r="4749" b="14449"/>
          <a:stretch/>
        </p:blipFill>
        <p:spPr>
          <a:xfrm>
            <a:off x="301752" y="729616"/>
            <a:ext cx="8549640" cy="2617088"/>
          </a:xfrm>
          <a:prstGeom prst="rect">
            <a:avLst/>
          </a:prstGeom>
        </p:spPr>
      </p:pic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6107E35E-32EE-2902-C1F4-3F136B421D01}"/>
              </a:ext>
            </a:extLst>
          </p:cNvPr>
          <p:cNvCxnSpPr>
            <a:cxnSpLocks/>
          </p:cNvCxnSpPr>
          <p:nvPr/>
        </p:nvCxnSpPr>
        <p:spPr>
          <a:xfrm rot="10800000">
            <a:off x="5843016" y="3163829"/>
            <a:ext cx="3813048" cy="93840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2A803122-D728-8A76-595E-935CB0071695}"/>
              </a:ext>
            </a:extLst>
          </p:cNvPr>
          <p:cNvCxnSpPr>
            <a:cxnSpLocks/>
          </p:cNvCxnSpPr>
          <p:nvPr/>
        </p:nvCxnSpPr>
        <p:spPr>
          <a:xfrm rot="10800000">
            <a:off x="8046720" y="2920366"/>
            <a:ext cx="1609344" cy="118186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8F75643-F135-5417-90B5-F2BCB57F4994}"/>
              </a:ext>
            </a:extLst>
          </p:cNvPr>
          <p:cNvSpPr txBox="1"/>
          <p:nvPr/>
        </p:nvSpPr>
        <p:spPr>
          <a:xfrm>
            <a:off x="7760577" y="4102229"/>
            <a:ext cx="3790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Hyperlink buttons made using a tags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1843D435-DCEE-2A2B-5B56-0CB7A41118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222814" y="2834639"/>
            <a:ext cx="1223655" cy="10241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059DD10-3CF8-1518-4885-04C80C2AABD9}"/>
              </a:ext>
            </a:extLst>
          </p:cNvPr>
          <p:cNvSpPr txBox="1"/>
          <p:nvPr/>
        </p:nvSpPr>
        <p:spPr>
          <a:xfrm>
            <a:off x="803887" y="4040508"/>
            <a:ext cx="3195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Card images with hover styling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79FC891-E8C4-4451-95C9-149F50800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4622380"/>
            <a:ext cx="6021522" cy="60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71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B413A459-9932-4C60-C726-D9CA07697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694312"/>
            <a:ext cx="11073384" cy="546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86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CFC9-891B-5775-EDDE-605D4861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84" y="-109691"/>
            <a:ext cx="10515600" cy="1325563"/>
          </a:xfrm>
        </p:spPr>
        <p:txBody>
          <a:bodyPr/>
          <a:lstStyle/>
          <a:p>
            <a:r>
              <a:rPr lang="en-IN" dirty="0"/>
              <a:t>Bootstrap – Accordion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BDB55-EC6F-0455-0D4F-1476FFF80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26" y="775680"/>
            <a:ext cx="8439531" cy="3189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5BC65B-B819-BB4A-0123-1C993504C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3964730"/>
            <a:ext cx="9226296" cy="268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61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A65E-41F1-7568-D2E7-178E6D35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075" y="-187325"/>
            <a:ext cx="10515600" cy="1325563"/>
          </a:xfrm>
        </p:spPr>
        <p:txBody>
          <a:bodyPr/>
          <a:lstStyle/>
          <a:p>
            <a:r>
              <a:rPr lang="en-IN" dirty="0" err="1"/>
              <a:t>Iframe</a:t>
            </a:r>
            <a:r>
              <a:rPr lang="en-IN" dirty="0"/>
              <a:t> Google maps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D9C71-A87C-485E-CC0C-1DD50CFA3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793" y="767435"/>
            <a:ext cx="8942832" cy="4567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8AF23D-66D4-1A08-6E9A-192C1409E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5" y="5308446"/>
            <a:ext cx="8220075" cy="124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04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6929-A4DC-C906-4A72-E430D7EC7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0"/>
            <a:ext cx="4324350" cy="930275"/>
          </a:xfrm>
        </p:spPr>
        <p:txBody>
          <a:bodyPr>
            <a:normAutofit/>
          </a:bodyPr>
          <a:lstStyle/>
          <a:p>
            <a:r>
              <a:rPr lang="en-IN" dirty="0"/>
              <a:t>Summit Smart Bot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539F4-FDC2-82BF-F4D9-3D647125B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50" y="1352360"/>
            <a:ext cx="3260863" cy="472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F09C1F-7F0B-6356-8EBF-9085572ED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620" y="1352360"/>
            <a:ext cx="4864264" cy="2174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377191-1B6C-7C56-30E1-9B39F3D8F4EA}"/>
              </a:ext>
            </a:extLst>
          </p:cNvPr>
          <p:cNvSpPr txBox="1"/>
          <p:nvPr/>
        </p:nvSpPr>
        <p:spPr>
          <a:xfrm>
            <a:off x="8813884" y="1352360"/>
            <a:ext cx="2813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Targets the entire scrollbar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C4431-6619-0DBB-2771-E75321A8CE23}"/>
              </a:ext>
            </a:extLst>
          </p:cNvPr>
          <p:cNvSpPr txBox="1"/>
          <p:nvPr/>
        </p:nvSpPr>
        <p:spPr>
          <a:xfrm>
            <a:off x="8778530" y="1958723"/>
            <a:ext cx="3065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Targets the scroll track of webpage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CD0BA6-C7E6-0B90-DC57-484742BE7D58}"/>
              </a:ext>
            </a:extLst>
          </p:cNvPr>
          <p:cNvSpPr txBox="1"/>
          <p:nvPr/>
        </p:nvSpPr>
        <p:spPr>
          <a:xfrm>
            <a:off x="8813884" y="2767708"/>
            <a:ext cx="2613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Targets the thumb of the scroll track</a:t>
            </a:r>
          </a:p>
        </p:txBody>
      </p:sp>
    </p:spTree>
    <p:extLst>
      <p:ext uri="{BB962C8B-B14F-4D97-AF65-F5344CB8AC3E}">
        <p14:creationId xmlns:p14="http://schemas.microsoft.com/office/powerpoint/2010/main" val="3253477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2DE9392-EE7C-230A-6156-C8FCC2DC7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01" y="2057754"/>
            <a:ext cx="6525783" cy="46268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5340AA-6067-99E1-D58C-22DDB065D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201" y="246888"/>
            <a:ext cx="6423259" cy="148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71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C1A2B4C-83DC-2CF2-6B2E-8E3DEA486B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81" b="9750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B3F391-05D5-D547-A614-1FEC1AF9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526" y="677672"/>
            <a:ext cx="7279885" cy="28529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130000"/>
              </a:lnSpc>
            </a:pPr>
            <a:r>
              <a:rPr lang="en-US" sz="3600" spc="1300" dirty="0">
                <a:solidFill>
                  <a:srgbClr val="FFFFFF"/>
                </a:solidFill>
              </a:rPr>
              <a:t>Raman’s Code</a:t>
            </a:r>
          </a:p>
        </p:txBody>
      </p:sp>
    </p:spTree>
    <p:extLst>
      <p:ext uri="{BB962C8B-B14F-4D97-AF65-F5344CB8AC3E}">
        <p14:creationId xmlns:p14="http://schemas.microsoft.com/office/powerpoint/2010/main" val="35089005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2E1E-82CD-1E75-006C-DA5666720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6782" y="941470"/>
            <a:ext cx="5059005" cy="2660353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/>
              <a:t>CARD APPLICATION</a:t>
            </a:r>
            <a:br>
              <a:rPr lang="en-US" sz="2800" b="1" dirty="0"/>
            </a:br>
            <a:r>
              <a:rPr lang="en-US" sz="2800" b="1" dirty="0"/>
              <a:t>&amp; </a:t>
            </a:r>
            <a:br>
              <a:rPr lang="en-US" sz="2800" b="1" dirty="0"/>
            </a:br>
            <a:r>
              <a:rPr lang="en-US" sz="2800" b="1" dirty="0"/>
              <a:t>ACCESSIBILITY PAGE</a:t>
            </a:r>
            <a:endParaRPr lang="en-CA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75ACF-F099-48C7-2265-779750652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6" b="1936"/>
          <a:stretch/>
        </p:blipFill>
        <p:spPr>
          <a:xfrm>
            <a:off x="974264" y="1049939"/>
            <a:ext cx="3568549" cy="2143984"/>
          </a:xfrm>
          <a:custGeom>
            <a:avLst/>
            <a:gdLst/>
            <a:ahLst/>
            <a:cxnLst/>
            <a:rect l="l" t="t" r="r" b="b"/>
            <a:pathLst>
              <a:path w="2518883" h="2860724">
                <a:moveTo>
                  <a:pt x="0" y="0"/>
                </a:moveTo>
                <a:lnTo>
                  <a:pt x="2518883" y="0"/>
                </a:lnTo>
                <a:lnTo>
                  <a:pt x="2518883" y="2860724"/>
                </a:lnTo>
                <a:lnTo>
                  <a:pt x="0" y="2860724"/>
                </a:lnTo>
                <a:close/>
              </a:path>
            </a:pathLst>
          </a:custGeom>
          <a:effectLst/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4D194BB-959F-552F-1EFB-2A73EF2E7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505" y="3601823"/>
            <a:ext cx="3572657" cy="195602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16742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BDCF49E-28DD-C191-8FB4-9C3EB3E1E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718"/>
          <a:stretch/>
        </p:blipFill>
        <p:spPr>
          <a:xfrm>
            <a:off x="-1" y="1"/>
            <a:ext cx="843741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17E86A-2043-27B5-A8D6-45E863C6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343" y="4213764"/>
            <a:ext cx="5841313" cy="2653144"/>
          </a:xfrm>
        </p:spPr>
        <p:txBody>
          <a:bodyPr anchor="b">
            <a:normAutofit/>
          </a:bodyPr>
          <a:lstStyle/>
          <a:p>
            <a:r>
              <a:rPr lang="en-CA" sz="3600" b="1" dirty="0">
                <a:solidFill>
                  <a:srgbClr val="FFFFFF"/>
                </a:solidFill>
              </a:rPr>
              <a:t>Body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6076-BDB5-CE21-2468-055888241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9686" y="1226127"/>
            <a:ext cx="3672314" cy="4745182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000000"/>
                </a:solidFill>
              </a:rPr>
              <a:t>It has two main elements:</a:t>
            </a:r>
          </a:p>
          <a:p>
            <a:r>
              <a:rPr lang="en-CA" dirty="0">
                <a:solidFill>
                  <a:srgbClr val="000000"/>
                </a:solidFill>
              </a:rPr>
              <a:t>1. Header</a:t>
            </a:r>
          </a:p>
          <a:p>
            <a:r>
              <a:rPr lang="en-CA" dirty="0">
                <a:solidFill>
                  <a:srgbClr val="000000"/>
                </a:solidFill>
              </a:rPr>
              <a:t>2. Main Content</a:t>
            </a:r>
          </a:p>
          <a:p>
            <a:pPr marL="0" indent="0">
              <a:buNone/>
            </a:pPr>
            <a:r>
              <a:rPr lang="en-CA" dirty="0">
                <a:solidFill>
                  <a:srgbClr val="000000"/>
                </a:solidFill>
              </a:rPr>
              <a:t>Main Content has two Sections:</a:t>
            </a:r>
          </a:p>
          <a:p>
            <a:pPr marL="457200" indent="-457200">
              <a:buAutoNum type="alphaLcPeriod"/>
            </a:pPr>
            <a:r>
              <a:rPr lang="en-CA" dirty="0">
                <a:solidFill>
                  <a:srgbClr val="000000"/>
                </a:solidFill>
              </a:rPr>
              <a:t>Right Panel</a:t>
            </a:r>
          </a:p>
          <a:p>
            <a:pPr marL="457200" indent="-457200">
              <a:buAutoNum type="alphaLcPeriod"/>
            </a:pPr>
            <a:r>
              <a:rPr lang="en-CA" dirty="0">
                <a:solidFill>
                  <a:srgbClr val="000000"/>
                </a:solidFill>
              </a:rPr>
              <a:t>Left Panel</a:t>
            </a:r>
          </a:p>
        </p:txBody>
      </p:sp>
    </p:spTree>
    <p:extLst>
      <p:ext uri="{BB962C8B-B14F-4D97-AF65-F5344CB8AC3E}">
        <p14:creationId xmlns:p14="http://schemas.microsoft.com/office/powerpoint/2010/main" val="15464268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7A310-1422-FE25-31CD-E6634FBD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06" y="791851"/>
            <a:ext cx="3067612" cy="1960775"/>
          </a:xfrm>
        </p:spPr>
        <p:txBody>
          <a:bodyPr>
            <a:normAutofit/>
          </a:bodyPr>
          <a:lstStyle/>
          <a:p>
            <a:r>
              <a:rPr lang="en-CA" dirty="0"/>
              <a:t>Body Section: Left panel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8B8442A-F023-B1B0-32C8-D66B88C328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1977" y="2940297"/>
          <a:ext cx="4091232" cy="3042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8AE805B-87CD-7FC0-9FE8-2FB29F574E8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5" r="35331" b="43"/>
          <a:stretch/>
        </p:blipFill>
        <p:spPr>
          <a:xfrm>
            <a:off x="4223209" y="705053"/>
            <a:ext cx="7758808" cy="5279009"/>
          </a:xfrm>
          <a:prstGeom prst="rect">
            <a:avLst/>
          </a:prstGeom>
          <a:effectLst>
            <a:outerShdw dist="190500" dir="18900000" algn="bl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14363840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F72C-E687-9B5A-F58F-285CF2542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542" y="365124"/>
            <a:ext cx="10278577" cy="1325563"/>
          </a:xfrm>
        </p:spPr>
        <p:txBody>
          <a:bodyPr>
            <a:normAutofit/>
          </a:bodyPr>
          <a:lstStyle/>
          <a:p>
            <a:r>
              <a:rPr lang="en-CA" dirty="0"/>
              <a:t>Body Section: Right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04752-D0AC-2991-820B-DF953D3BC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86609"/>
            <a:ext cx="4988119" cy="392374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300" b="1"/>
              <a:t>Right Panel Form</a:t>
            </a:r>
            <a:r>
              <a:rPr lang="en-US" sz="1300"/>
              <a:t>: Explain that the main interaction on the page is through a form for applying for the card.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300" b="1"/>
              <a:t>Progress Bar</a:t>
            </a:r>
            <a:r>
              <a:rPr lang="en-US" sz="1300"/>
              <a:t>: Describe how the progress bar visually indicates the user's progress through the form.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300" b="1"/>
              <a:t>Questions</a:t>
            </a:r>
            <a:r>
              <a:rPr lang="en-US" sz="1300"/>
              <a:t>: Explain how the form is divided into multiple steps or questions, making it easier for the user to complete the application.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300" b="1"/>
              <a:t>Buttons</a:t>
            </a:r>
            <a:r>
              <a:rPr lang="en-US" sz="1300"/>
              <a:t>: Explain the buttons for navigating between questions and submitting the form.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300" b="1"/>
              <a:t>Submission and Processing</a:t>
            </a:r>
            <a:r>
              <a:rPr lang="en-US" sz="1300"/>
              <a:t>: Describe what happens when the form is submitted, including the display of a progress bar and a confirmation message</a:t>
            </a:r>
          </a:p>
          <a:p>
            <a:pPr>
              <a:lnSpc>
                <a:spcPct val="120000"/>
              </a:lnSpc>
            </a:pPr>
            <a:endParaRPr lang="en-CA" sz="130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812D9BE-6BE3-6899-1E99-A06C895BCD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3861" b="-2"/>
          <a:stretch/>
        </p:blipFill>
        <p:spPr>
          <a:xfrm>
            <a:off x="554692" y="2491186"/>
            <a:ext cx="5126579" cy="361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69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redit card&#10;&#10;Description automatically generated">
            <a:extLst>
              <a:ext uri="{FF2B5EF4-FFF2-40B4-BE49-F238E27FC236}">
                <a16:creationId xmlns:a16="http://schemas.microsoft.com/office/drawing/2014/main" id="{BD96D56E-7030-63AC-3A96-AF518E44B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4952"/>
          <a:stretch/>
        </p:blipFill>
        <p:spPr>
          <a:xfrm>
            <a:off x="103304" y="721104"/>
            <a:ext cx="4735308" cy="6290848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3F881914-6E08-10C8-A4B0-00654B57C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340" y="224726"/>
            <a:ext cx="4631110" cy="3389656"/>
          </a:xfrm>
          <a:prstGeom prst="rect">
            <a:avLst/>
          </a:prstGeom>
        </p:spPr>
      </p:pic>
      <p:pic>
        <p:nvPicPr>
          <p:cNvPr id="11" name="Picture 10" descr="A screen shot of a computer&#10;&#10;Description automatically generated">
            <a:extLst>
              <a:ext uri="{FF2B5EF4-FFF2-40B4-BE49-F238E27FC236}">
                <a16:creationId xmlns:a16="http://schemas.microsoft.com/office/drawing/2014/main" id="{EF2933A9-9E8C-2516-722B-6ADEC28E50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86"/>
          <a:stretch/>
        </p:blipFill>
        <p:spPr>
          <a:xfrm>
            <a:off x="5845421" y="4124880"/>
            <a:ext cx="5339769" cy="185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564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9445-A611-BCF7-7BBD-3DDDEE46E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656" y="665389"/>
            <a:ext cx="5807818" cy="1507193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CA" sz="2700" dirty="0"/>
              <a:t>Footer section and java-script functionality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845BB4-0491-8042-DF3D-6D0D168444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4656" y="2400301"/>
            <a:ext cx="5568215" cy="3733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CA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CA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Footer Section</a:t>
            </a:r>
            <a:r>
              <a:rPr lang="en-CA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Social Media Links</a:t>
            </a:r>
            <a:r>
              <a:rPr lang="en-CA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Explain that the footer contains links to the bank's social media pages, making it easy for users to connect with the bank online.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CA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CA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JavaScript Functionality</a:t>
            </a:r>
            <a:r>
              <a:rPr lang="en-CA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Progress Bar Update</a:t>
            </a:r>
            <a:r>
              <a:rPr lang="en-CA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Explain how the progress bar updates as the user moves through the form.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Navigation Functions</a:t>
            </a:r>
            <a:r>
              <a:rPr lang="en-CA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Describe the JavaScript functions (</a:t>
            </a:r>
            <a:r>
              <a:rPr lang="en-CA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nextQuestion</a:t>
            </a:r>
            <a:r>
              <a:rPr lang="en-CA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CA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prevQuestion</a:t>
            </a:r>
            <a:r>
              <a:rPr lang="en-CA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that handle moving between form steps.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Form Submission</a:t>
            </a:r>
            <a:r>
              <a:rPr lang="en-CA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Explain the </a:t>
            </a:r>
            <a:r>
              <a:rPr lang="en-CA" sz="11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handleSubmit</a:t>
            </a:r>
            <a:r>
              <a:rPr lang="en-CA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function that simulates form submission and shows a processing message followed by a confirmation.</a:t>
            </a:r>
          </a:p>
          <a:p>
            <a:pPr marL="0" marR="0" lvl="0" indent="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1952C67-6A99-3057-7CAA-0A26B17C70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" b="2"/>
          <a:stretch/>
        </p:blipFill>
        <p:spPr>
          <a:xfrm>
            <a:off x="6805691" y="405245"/>
            <a:ext cx="5203091" cy="6047499"/>
          </a:xfrm>
          <a:custGeom>
            <a:avLst/>
            <a:gdLst/>
            <a:ahLst/>
            <a:cxnLst/>
            <a:rect l="l" t="t" r="r" b="b"/>
            <a:pathLst>
              <a:path w="2093843" h="1948070">
                <a:moveTo>
                  <a:pt x="0" y="0"/>
                </a:moveTo>
                <a:lnTo>
                  <a:pt x="2093843" y="0"/>
                </a:lnTo>
                <a:lnTo>
                  <a:pt x="2093843" y="1948070"/>
                </a:lnTo>
                <a:lnTo>
                  <a:pt x="0" y="1948070"/>
                </a:lnTo>
                <a:close/>
              </a:path>
            </a:pathLst>
          </a:custGeom>
          <a:effectLst/>
        </p:spPr>
      </p:pic>
    </p:spTree>
    <p:extLst>
      <p:ext uri="{BB962C8B-B14F-4D97-AF65-F5344CB8AC3E}">
        <p14:creationId xmlns:p14="http://schemas.microsoft.com/office/powerpoint/2010/main" val="3469891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7DFC-4739-F3EC-49DB-6A9E50FB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234" y="-80092"/>
            <a:ext cx="7317223" cy="1768475"/>
          </a:xfrm>
        </p:spPr>
        <p:txBody>
          <a:bodyPr>
            <a:normAutofit/>
          </a:bodyPr>
          <a:lstStyle/>
          <a:p>
            <a:r>
              <a:rPr lang="en-US" dirty="0"/>
              <a:t>Accessibility page</a:t>
            </a:r>
            <a:endParaRPr lang="en-CA" dirty="0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4B6C2E3E-1485-B1D2-0749-473AF11E69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674549" y="3353979"/>
          <a:ext cx="5257838" cy="3504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E200CC4-433D-6071-3C1F-4BF25D1DBBC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0" r="-51" b="1"/>
          <a:stretch/>
        </p:blipFill>
        <p:spPr>
          <a:xfrm>
            <a:off x="435322" y="1768475"/>
            <a:ext cx="7317223" cy="4537528"/>
          </a:xfrm>
          <a:prstGeom prst="rect">
            <a:avLst/>
          </a:prstGeom>
          <a:effectLst>
            <a:outerShdw dist="190500" dir="8100000" algn="bl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11543558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2E44-3963-5AB7-76BC-C7BF98522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656" y="665389"/>
            <a:ext cx="6323042" cy="1507193"/>
          </a:xfrm>
        </p:spPr>
        <p:txBody>
          <a:bodyPr anchor="b">
            <a:normAutofit/>
          </a:bodyPr>
          <a:lstStyle/>
          <a:p>
            <a:r>
              <a:rPr lang="en-US" dirty="0"/>
              <a:t>Styles highlights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81A24-C3DF-79DF-E4AA-BF3100F68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656" y="2400301"/>
            <a:ext cx="6223454" cy="3733800"/>
          </a:xfrm>
        </p:spPr>
        <p:txBody>
          <a:bodyPr>
            <a:normAutofit/>
          </a:bodyPr>
          <a:lstStyle/>
          <a:p>
            <a:r>
              <a:rPr lang="en-US" dirty="0"/>
              <a:t>Text Input box styling</a:t>
            </a:r>
          </a:p>
          <a:p>
            <a:r>
              <a:rPr lang="en-US" dirty="0"/>
              <a:t>Progress Bar styling</a:t>
            </a:r>
          </a:p>
          <a:p>
            <a:r>
              <a:rPr lang="en-US" dirty="0"/>
              <a:t>Nav Icons styling</a:t>
            </a:r>
          </a:p>
          <a:p>
            <a:r>
              <a:rPr lang="en-US" dirty="0"/>
              <a:t>Feedback form styling</a:t>
            </a:r>
            <a:endParaRPr lang="en-CA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A47767F-88C7-9433-CE2B-6752B6C49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39" y="147495"/>
            <a:ext cx="4345030" cy="3247911"/>
          </a:xfrm>
          <a:prstGeom prst="rect">
            <a:avLst/>
          </a:prstGeom>
        </p:spPr>
      </p:pic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046DBA8-983B-0FDE-B88F-B99927133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397" y="3585669"/>
            <a:ext cx="4418427" cy="326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36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pinning turntable and bokeh">
            <a:extLst>
              <a:ext uri="{FF2B5EF4-FFF2-40B4-BE49-F238E27FC236}">
                <a16:creationId xmlns:a16="http://schemas.microsoft.com/office/drawing/2014/main" id="{5310103F-0265-8193-2EF8-D10200433D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6311" b="9420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BF57F1-B2A4-BCA0-D4AC-0D9F54535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261872"/>
            <a:ext cx="7142018" cy="285292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3600" spc="1300">
                <a:solidFill>
                  <a:srgbClr val="FFFFFF"/>
                </a:solidFill>
              </a:rPr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4999020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774</TotalTime>
  <Words>934</Words>
  <Application>Microsoft Office PowerPoint</Application>
  <PresentationFormat>Widescreen</PresentationFormat>
  <Paragraphs>133</Paragraphs>
  <Slides>46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Aptos</vt:lpstr>
      <vt:lpstr>Arial</vt:lpstr>
      <vt:lpstr>Calibri</vt:lpstr>
      <vt:lpstr>Roboto Mono</vt:lpstr>
      <vt:lpstr>Symbol</vt:lpstr>
      <vt:lpstr>Trebuchet MS</vt:lpstr>
      <vt:lpstr>Wingdings 3</vt:lpstr>
      <vt:lpstr>Facet</vt:lpstr>
      <vt:lpstr>SUMMIT BANK</vt:lpstr>
      <vt:lpstr>Ashok’s code</vt:lpstr>
      <vt:lpstr>Key Feature: HTML Document Structure</vt:lpstr>
      <vt:lpstr>Key Feature: Navigation Bar (HTML)</vt:lpstr>
      <vt:lpstr>Key Feature: Main Content (HTML)</vt:lpstr>
      <vt:lpstr>Key Features: Investment Options (HTML)</vt:lpstr>
      <vt:lpstr>Key Features: Account Types (HTML)</vt:lpstr>
      <vt:lpstr>Key Features: Credit Card Products (HTML)</vt:lpstr>
      <vt:lpstr>Key Features: Application Page (HTML)</vt:lpstr>
      <vt:lpstr>Key Features: Javascript Function</vt:lpstr>
      <vt:lpstr>Key Features: Javascript Function</vt:lpstr>
      <vt:lpstr>Abbas’s Code</vt:lpstr>
      <vt:lpstr>Appointments Page</vt:lpstr>
      <vt:lpstr>Why Create An Appointments Page?</vt:lpstr>
      <vt:lpstr>Solution Overview</vt:lpstr>
      <vt:lpstr>Technical Highlights </vt:lpstr>
      <vt:lpstr>Market Potential</vt:lpstr>
      <vt:lpstr>Sahib’s CODE</vt:lpstr>
      <vt:lpstr>PowerPoint Presentation</vt:lpstr>
      <vt:lpstr>Investments page</vt:lpstr>
      <vt:lpstr>Investments  page</vt:lpstr>
      <vt:lpstr>Sign UP PAGE</vt:lpstr>
      <vt:lpstr>SIGN UP PAGE SNIPETS</vt:lpstr>
      <vt:lpstr>Accounts page</vt:lpstr>
      <vt:lpstr>Accounts page snippets</vt:lpstr>
      <vt:lpstr>JAVA-SCRIPT FUNCTIONALITY</vt:lpstr>
      <vt:lpstr>SID’S CODE</vt:lpstr>
      <vt:lpstr>Credit Card Page</vt:lpstr>
      <vt:lpstr>PowerPoint Presentation</vt:lpstr>
      <vt:lpstr>PowerPoint Presentation</vt:lpstr>
      <vt:lpstr>PowerPoint Presentation</vt:lpstr>
      <vt:lpstr>PowerPoint Presentation</vt:lpstr>
      <vt:lpstr>Bootstrap – Accordion Class</vt:lpstr>
      <vt:lpstr>Iframe Google maps</vt:lpstr>
      <vt:lpstr>Summit Smart Bot</vt:lpstr>
      <vt:lpstr>PowerPoint Presentation</vt:lpstr>
      <vt:lpstr>Raman’s Code</vt:lpstr>
      <vt:lpstr>CARD APPLICATION &amp;  ACCESSIBILITY PAGE</vt:lpstr>
      <vt:lpstr>Body Section</vt:lpstr>
      <vt:lpstr>Body Section: Left panel</vt:lpstr>
      <vt:lpstr>Body Section: Right panel</vt:lpstr>
      <vt:lpstr>PowerPoint Presentation</vt:lpstr>
      <vt:lpstr>Footer section and java-script functionality</vt:lpstr>
      <vt:lpstr>Accessibility page</vt:lpstr>
      <vt:lpstr>Styles highlights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Ramanpreet Singh</dc:creator>
  <cp:lastModifiedBy>Sahib Soor</cp:lastModifiedBy>
  <cp:revision>7</cp:revision>
  <dcterms:created xsi:type="dcterms:W3CDTF">2024-07-30T16:34:18Z</dcterms:created>
  <dcterms:modified xsi:type="dcterms:W3CDTF">2024-08-02T18:19:49Z</dcterms:modified>
</cp:coreProperties>
</file>